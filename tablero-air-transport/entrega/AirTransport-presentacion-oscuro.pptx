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E84818"/>
              </a:solidFill>
            </c:spPr>
          </c:dPt>
          <c:dPt>
            <c:idx val="1"/>
            <c:spPr>
              <a:solidFill>
                <a:srgbClr val="E84818"/>
              </a:solidFill>
            </c:spPr>
          </c:dPt>
          <c:dPt>
            <c:idx val="2"/>
            <c:spPr>
              <a:solidFill>
                <a:srgbClr val="E84818"/>
              </a:solidFill>
            </c:spPr>
          </c:dPt>
          <c:dPt>
            <c:idx val="3"/>
            <c:spPr>
              <a:solidFill>
                <a:srgbClr val="4C9BE0"/>
              </a:solidFill>
            </c:spPr>
          </c:dPt>
          <c:dPt>
            <c:idx val="4"/>
            <c:spPr>
              <a:solidFill>
                <a:srgbClr val="4C9BE0"/>
              </a:solidFill>
            </c:spPr>
          </c:dPt>
          <c:dPt>
            <c:idx val="5"/>
            <c:spPr>
              <a:solidFill>
                <a:srgbClr val="4C9BE0"/>
              </a:solidFill>
            </c:spPr>
          </c:dPt>
          <c:dPt>
            <c:idx val="6"/>
            <c:spPr>
              <a:solidFill>
                <a:srgbClr val="4C9BE0"/>
              </a:solidFill>
            </c:spPr>
          </c:dPt>
          <c:dPt>
            <c:idx val="7"/>
            <c:spPr>
              <a:solidFill>
                <a:srgbClr val="4C9BE0"/>
              </a:solidFill>
            </c:spPr>
          </c:dPt>
          <c:dPt>
            <c:idx val="8"/>
            <c:spPr>
              <a:solidFill>
                <a:srgbClr val="4C9BE0"/>
              </a:solidFill>
            </c:spPr>
          </c:dPt>
          <c:dPt>
            <c:idx val="9"/>
            <c:spPr>
              <a:solidFill>
                <a:srgbClr val="4C9BE0"/>
              </a:solidFill>
            </c:spPr>
          </c:dPt>
          <c:dPt>
            <c:idx val="10"/>
            <c:spPr>
              <a:solidFill>
                <a:srgbClr val="4C9BE0"/>
              </a:solidFill>
            </c:spPr>
          </c:dPt>
          <c:dPt>
            <c:idx val="11"/>
            <c:spPr>
              <a:solidFill>
                <a:srgbClr val="E84818"/>
              </a:solidFill>
            </c:spPr>
          </c:dPt>
          <c:dLbls>
            <c:dLbl>
              <c:idx val="0"/>
              <c:tx>
                <c:rich>
                  <a:bodyPr/>
                  <a:lstStyle/>
                  <a:p>
                    <a:r>
                      <a:rPr sz="1100">
                        <a:solidFill>
                          <a:srgbClr val="E6EDF5"/>
                        </a:solidFill>
                      </a:rPr>
                      <a:t>268,8</a:t>
                    </a:r>
                  </a:p>
                </c:rich>
              </c:tx>
              <c:dLblPos val="outEnd"/>
              <c:showLegendKey val="0"/>
              <c:showVal val="1"/>
              <c:showCatName val="0"/>
              <c:showSerName val="0"/>
              <c:showPercent val="0"/>
              <c:showBubbleSize val="0"/>
            </c:dLbl>
            <c:dLbl>
              <c:idx val="1"/>
              <c:tx>
                <c:rich>
                  <a:bodyPr/>
                  <a:lstStyle/>
                  <a:p>
                    <a:r>
                      <a:rPr sz="1100">
                        <a:solidFill>
                          <a:srgbClr val="E6EDF5"/>
                        </a:solidFill>
                      </a:rPr>
                      <a:t>237,3</a:t>
                    </a:r>
                  </a:p>
                </c:rich>
              </c:tx>
              <c:dLblPos val="outEnd"/>
              <c:showLegendKey val="0"/>
              <c:showVal val="1"/>
              <c:showCatName val="0"/>
              <c:showSerName val="0"/>
              <c:showPercent val="0"/>
              <c:showBubbleSize val="0"/>
            </c:dLbl>
            <c:dLbl>
              <c:idx val="2"/>
              <c:tx>
                <c:rich>
                  <a:bodyPr/>
                  <a:lstStyle/>
                  <a:p>
                    <a:r>
                      <a:rPr sz="1100">
                        <a:solidFill>
                          <a:srgbClr val="E6EDF5"/>
                        </a:solidFill>
                      </a:rPr>
                      <a:t>178,5</a:t>
                    </a:r>
                  </a:p>
                </c:rich>
              </c:tx>
              <c:dLblPos val="outEnd"/>
              <c:showLegendKey val="0"/>
              <c:showVal val="1"/>
              <c:showCatName val="0"/>
              <c:showSerName val="0"/>
              <c:showPercent val="0"/>
              <c:showBubbleSize val="0"/>
            </c:dLbl>
            <c:dLbl>
              <c:idx val="3"/>
              <c:tx>
                <c:rich>
                  <a:bodyPr/>
                  <a:lstStyle/>
                  <a:p>
                    <a:r>
                      <a:rPr sz="1100">
                        <a:solidFill>
                          <a:srgbClr val="E6EDF5"/>
                        </a:solidFill>
                      </a:rPr>
                      <a:t>162,2</a:t>
                    </a:r>
                  </a:p>
                </c:rich>
              </c:tx>
              <c:dLblPos val="outEnd"/>
              <c:showLegendKey val="0"/>
              <c:showVal val="1"/>
              <c:showCatName val="0"/>
              <c:showSerName val="0"/>
              <c:showPercent val="0"/>
              <c:showBubbleSize val="0"/>
            </c:dLbl>
            <c:dLbl>
              <c:idx val="4"/>
              <c:tx>
                <c:rich>
                  <a:bodyPr/>
                  <a:lstStyle/>
                  <a:p>
                    <a:r>
                      <a:rPr sz="1100">
                        <a:solidFill>
                          <a:srgbClr val="E6EDF5"/>
                        </a:solidFill>
                      </a:rPr>
                      <a:t>110,2</a:t>
                    </a:r>
                  </a:p>
                </c:rich>
              </c:tx>
              <c:dLblPos val="outEnd"/>
              <c:showLegendKey val="0"/>
              <c:showVal val="1"/>
              <c:showCatName val="0"/>
              <c:showSerName val="0"/>
              <c:showPercent val="0"/>
              <c:showBubbleSize val="0"/>
            </c:dLbl>
            <c:dLbl>
              <c:idx val="5"/>
              <c:tx>
                <c:rich>
                  <a:bodyPr/>
                  <a:lstStyle/>
                  <a:p>
                    <a:r>
                      <a:rPr sz="1100">
                        <a:solidFill>
                          <a:srgbClr val="E6EDF5"/>
                        </a:solidFill>
                      </a:rPr>
                      <a:t>93,4</a:t>
                    </a:r>
                  </a:p>
                </c:rich>
              </c:tx>
              <c:dLblPos val="outEnd"/>
              <c:showLegendKey val="0"/>
              <c:showVal val="1"/>
              <c:showCatName val="0"/>
              <c:showSerName val="0"/>
              <c:showPercent val="0"/>
              <c:showBubbleSize val="0"/>
            </c:dLbl>
            <c:dLbl>
              <c:idx val="6"/>
              <c:tx>
                <c:rich>
                  <a:bodyPr/>
                  <a:lstStyle/>
                  <a:p>
                    <a:r>
                      <a:rPr sz="1100">
                        <a:solidFill>
                          <a:srgbClr val="E6EDF5"/>
                        </a:solidFill>
                      </a:rPr>
                      <a:t>71,2</a:t>
                    </a:r>
                  </a:p>
                </c:rich>
              </c:tx>
              <c:dLblPos val="outEnd"/>
              <c:showLegendKey val="0"/>
              <c:showVal val="1"/>
              <c:showCatName val="0"/>
              <c:showSerName val="0"/>
              <c:showPercent val="0"/>
              <c:showBubbleSize val="0"/>
            </c:dLbl>
            <c:dLbl>
              <c:idx val="7"/>
              <c:tx>
                <c:rich>
                  <a:bodyPr/>
                  <a:lstStyle/>
                  <a:p>
                    <a:r>
                      <a:rPr sz="1100">
                        <a:solidFill>
                          <a:srgbClr val="E6EDF5"/>
                        </a:solidFill>
                      </a:rPr>
                      <a:t>63,6</a:t>
                    </a:r>
                  </a:p>
                </c:rich>
              </c:tx>
              <c:dLblPos val="outEnd"/>
              <c:showLegendKey val="0"/>
              <c:showVal val="1"/>
              <c:showCatName val="0"/>
              <c:showSerName val="0"/>
              <c:showPercent val="0"/>
              <c:showBubbleSize val="0"/>
            </c:dLbl>
            <c:dLbl>
              <c:idx val="8"/>
              <c:tx>
                <c:rich>
                  <a:bodyPr/>
                  <a:lstStyle/>
                  <a:p>
                    <a:r>
                      <a:rPr sz="1100">
                        <a:solidFill>
                          <a:srgbClr val="E6EDF5"/>
                        </a:solidFill>
                      </a:rPr>
                      <a:t>41,2</a:t>
                    </a:r>
                  </a:p>
                </c:rich>
              </c:tx>
              <c:dLblPos val="outEnd"/>
              <c:showLegendKey val="0"/>
              <c:showVal val="1"/>
              <c:showCatName val="0"/>
              <c:showSerName val="0"/>
              <c:showPercent val="0"/>
              <c:showBubbleSize val="0"/>
            </c:dLbl>
            <c:dLbl>
              <c:idx val="9"/>
              <c:tx>
                <c:rich>
                  <a:bodyPr/>
                  <a:lstStyle/>
                  <a:p>
                    <a:r>
                      <a:rPr sz="1100">
                        <a:solidFill>
                          <a:srgbClr val="E6EDF5"/>
                        </a:solidFill>
                      </a:rPr>
                      <a:t>37,2</a:t>
                    </a:r>
                  </a:p>
                </c:rich>
              </c:tx>
              <c:dLblPos val="outEnd"/>
              <c:showLegendKey val="0"/>
              <c:showVal val="1"/>
              <c:showCatName val="0"/>
              <c:showSerName val="0"/>
              <c:showPercent val="0"/>
              <c:showBubbleSize val="0"/>
            </c:dLbl>
            <c:dLbl>
              <c:idx val="10"/>
              <c:tx>
                <c:rich>
                  <a:bodyPr/>
                  <a:lstStyle/>
                  <a:p>
                    <a:r>
                      <a:rPr sz="1100">
                        <a:solidFill>
                          <a:srgbClr val="E6EDF5"/>
                        </a:solidFill>
                      </a:rPr>
                      <a:t>21,7</a:t>
                    </a:r>
                  </a:p>
                </c:rich>
              </c:tx>
              <c:dLblPos val="outEnd"/>
              <c:showLegendKey val="0"/>
              <c:showVal val="1"/>
              <c:showCatName val="0"/>
              <c:showSerName val="0"/>
              <c:showPercent val="0"/>
              <c:showBubbleSize val="0"/>
            </c:dLbl>
            <c:dLbl>
              <c:idx val="11"/>
              <c:tx>
                <c:rich>
                  <a:bodyPr/>
                  <a:lstStyle/>
                  <a:p>
                    <a:r>
                      <a:rPr sz="1100">
                        <a:solidFill>
                          <a:srgbClr val="E6EDF5"/>
                        </a:solidFill>
                      </a:rPr>
                      <a:t>3,8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Doméstico (24,8 %)</c:v>
                </c:pt>
                <c:pt idx="1">
                  <c:v>Material de oficina (19,4 %)</c:v>
                </c:pt>
                <c:pt idx="2">
                  <c:v>Cárnicos (13,6 %)</c:v>
                </c:pt>
                <c:pt idx="3">
                  <c:v>Cosméticos (39,8 %)</c:v>
                </c:pt>
                <c:pt idx="4">
                  <c:v>Alimento infantil (37,6 %)</c:v>
                </c:pt>
                <c:pt idx="5">
                  <c:v>Cereales (43,1 %)</c:v>
                </c:pt>
                <c:pt idx="6">
                  <c:v>Snacks (36,1 %)</c:v>
                </c:pt>
                <c:pt idx="7">
                  <c:v>Verduras (41,0 %)</c:v>
                </c:pt>
                <c:pt idx="8">
                  <c:v>Ropa (67,2 %)</c:v>
                </c:pt>
                <c:pt idx="9">
                  <c:v>Cuidado personal (30,7 %)</c:v>
                </c:pt>
                <c:pt idx="10">
                  <c:v>Bebida (33,0 %)</c:v>
                </c:pt>
                <c:pt idx="11">
                  <c:v>Frutas (25,8 %)</c:v>
                </c:pt>
              </c:strCache>
            </c:strRef>
          </c:cat>
          <c:val>
            <c:numRef>
              <c:f>Sheet1!$B$2:$B$13</c:f>
              <c:numCache>
                <c:formatCode>General</c:formatCode>
                <c:ptCount val="12"/>
                <c:pt idx="0">
                  <c:v>268.79556902</c:v>
                </c:pt>
                <c:pt idx="1">
                  <c:v>237.25208325</c:v>
                </c:pt>
                <c:pt idx="2">
                  <c:v>178.52275349999996</c:v>
                </c:pt>
                <c:pt idx="3">
                  <c:v>162.21519039999998</c:v>
                </c:pt>
                <c:pt idx="4">
                  <c:v>110.21433192</c:v>
                </c:pt>
                <c:pt idx="5">
                  <c:v>93.40117049999999</c:v>
                </c:pt>
                <c:pt idx="6">
                  <c:v>71.1564459</c:v>
                </c:pt>
                <c:pt idx="7">
                  <c:v>63.617998580000005</c:v>
                </c:pt>
                <c:pt idx="8">
                  <c:v>41.23615232</c:v>
                </c:pt>
                <c:pt idx="9">
                  <c:v>37.20186139999999</c:v>
                </c:pt>
                <c:pt idx="10">
                  <c:v>21.6679476</c:v>
                </c:pt>
                <c:pt idx="11">
                  <c:v>3.82039242</c:v>
                </c:pt>
              </c:numCache>
            </c:numRef>
          </c:val>
        </c:ser>
        <c:gapWidth val="35"/>
        <c:axId val="-2068027336"/>
        <c:axId val="-2113994440"/>
      </c:barChart>
      <c:catAx>
        <c:axId val="-2068027336"/>
        <c:scaling>
          <c:orientation val="maxMin"/>
        </c:scaling>
        <c:delete val="0"/>
        <c:axPos val="l"/>
        <c:majorTickMark val="out"/>
        <c:minorTickMark val="none"/>
        <c:tickLblPos val="nextTo"/>
        <c:spPr>
          <a:ln>
            <a:solidFill>
              <a:srgbClr val="3A4A5C"/>
            </a:solidFill>
          </a:ln>
        </c:spPr>
        <c:txPr>
          <a:bodyPr/>
          <a:lstStyle/>
          <a:p>
            <a:pPr>
              <a:defRPr sz="1100">
                <a:solidFill>
                  <a:srgbClr val="E6EDF5"/>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100">
          <a:solidFill>
            <a:srgbClr val="E6EDF5"/>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E84818"/>
              </a:solidFill>
            </c:spPr>
          </c:dPt>
          <c:dPt>
            <c:idx val="1"/>
            <c:spPr>
              <a:solidFill>
                <a:srgbClr val="4C9BE0"/>
              </a:solidFill>
            </c:spPr>
          </c:dPt>
          <c:dPt>
            <c:idx val="2"/>
            <c:spPr>
              <a:solidFill>
                <a:srgbClr val="4C9BE0"/>
              </a:solidFill>
            </c:spPr>
          </c:dPt>
          <c:dPt>
            <c:idx val="3"/>
            <c:spPr>
              <a:solidFill>
                <a:srgbClr val="4C9BE0"/>
              </a:solidFill>
            </c:spPr>
          </c:dPt>
          <c:dLbls>
            <c:dLbl>
              <c:idx val="0"/>
              <c:tx>
                <c:rich>
                  <a:bodyPr/>
                  <a:lstStyle/>
                  <a:p>
                    <a:r>
                      <a:rPr sz="1400">
                        <a:solidFill>
                          <a:srgbClr val="E6EDF5"/>
                        </a:solidFill>
                      </a:rPr>
                      <a:t>24,9</a:t>
                    </a:r>
                  </a:p>
                </c:rich>
              </c:tx>
              <c:dLblPos val="outEnd"/>
              <c:showLegendKey val="0"/>
              <c:showVal val="1"/>
              <c:showCatName val="0"/>
              <c:showSerName val="0"/>
              <c:showPercent val="0"/>
              <c:showBubbleSize val="0"/>
            </c:dLbl>
            <c:dLbl>
              <c:idx val="1"/>
              <c:tx>
                <c:rich>
                  <a:bodyPr/>
                  <a:lstStyle/>
                  <a:p>
                    <a:r>
                      <a:rPr sz="1400">
                        <a:solidFill>
                          <a:srgbClr val="E6EDF5"/>
                        </a:solidFill>
                      </a:rPr>
                      <a:t>23,2</a:t>
                    </a:r>
                  </a:p>
                </c:rich>
              </c:tx>
              <c:dLblPos val="outEnd"/>
              <c:showLegendKey val="0"/>
              <c:showVal val="1"/>
              <c:showCatName val="0"/>
              <c:showSerName val="0"/>
              <c:showPercent val="0"/>
              <c:showBubbleSize val="0"/>
            </c:dLbl>
            <c:dLbl>
              <c:idx val="2"/>
              <c:tx>
                <c:rich>
                  <a:bodyPr/>
                  <a:lstStyle/>
                  <a:p>
                    <a:r>
                      <a:rPr sz="1400">
                        <a:solidFill>
                          <a:srgbClr val="E6EDF5"/>
                        </a:solidFill>
                      </a:rPr>
                      <a:t>24,2</a:t>
                    </a:r>
                  </a:p>
                </c:rich>
              </c:tx>
              <c:dLblPos val="outEnd"/>
              <c:showLegendKey val="0"/>
              <c:showVal val="1"/>
              <c:showCatName val="0"/>
              <c:showSerName val="0"/>
              <c:showPercent val="0"/>
              <c:showBubbleSize val="0"/>
            </c:dLbl>
            <c:dLbl>
              <c:idx val="3"/>
              <c:tx>
                <c:rich>
                  <a:bodyPr/>
                  <a:lstStyle/>
                  <a:p>
                    <a:r>
                      <a:rPr sz="1400">
                        <a:solidFill>
                          <a:srgbClr val="E6EDF5"/>
                        </a:solidFill>
                      </a:rPr>
                      <a:t>23,9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Crítica</c:v>
                </c:pt>
                <c:pt idx="1">
                  <c:v>Alta</c:v>
                </c:pt>
                <c:pt idx="2">
                  <c:v>Media</c:v>
                </c:pt>
                <c:pt idx="3">
                  <c:v>Baja</c:v>
                </c:pt>
              </c:strCache>
            </c:strRef>
          </c:cat>
          <c:val>
            <c:numRef>
              <c:f>Sheet1!$B$2:$B$5</c:f>
              <c:numCache>
                <c:formatCode>General</c:formatCode>
                <c:ptCount val="4"/>
                <c:pt idx="0">
                  <c:v>24.899598393574298</c:v>
                </c:pt>
                <c:pt idx="1">
                  <c:v>23.194331983805668</c:v>
                </c:pt>
                <c:pt idx="2">
                  <c:v>24.242798353909464</c:v>
                </c:pt>
                <c:pt idx="3">
                  <c:v>23.850574712643677</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3A4A5C"/>
            </a:solidFill>
          </a:ln>
        </c:spPr>
        <c:txPr>
          <a:bodyPr/>
          <a:lstStyle/>
          <a:p>
            <a:pPr>
              <a:defRPr sz="1400">
                <a:solidFill>
                  <a:srgbClr val="E6EDF5"/>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E6EDF5"/>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4C9BE0"/>
              </a:solidFill>
            </c:spPr>
          </c:dPt>
          <c:dPt>
            <c:idx val="1"/>
            <c:spPr>
              <a:solidFill>
                <a:srgbClr val="4C9BE0"/>
              </a:solidFill>
            </c:spPr>
          </c:dPt>
          <c:dPt>
            <c:idx val="2"/>
            <c:spPr>
              <a:solidFill>
                <a:srgbClr val="E84818"/>
              </a:solidFill>
            </c:spPr>
          </c:dPt>
          <c:dLbls>
            <c:dLbl>
              <c:idx val="0"/>
              <c:tx>
                <c:rich>
                  <a:bodyPr/>
                  <a:lstStyle/>
                  <a:p>
                    <a:r>
                      <a:rPr sz="1300">
                        <a:solidFill>
                          <a:srgbClr val="E6EDF5"/>
                        </a:solidFill>
                      </a:rPr>
                      <a:t>98</a:t>
                    </a:r>
                  </a:p>
                </c:rich>
              </c:tx>
              <c:dLblPos val="outEnd"/>
              <c:showLegendKey val="0"/>
              <c:showVal val="1"/>
              <c:showCatName val="0"/>
              <c:showSerName val="0"/>
              <c:showPercent val="0"/>
              <c:showBubbleSize val="0"/>
            </c:dLbl>
            <c:dLbl>
              <c:idx val="1"/>
              <c:tx>
                <c:rich>
                  <a:bodyPr/>
                  <a:lstStyle/>
                  <a:p>
                    <a:r>
                      <a:rPr sz="1300">
                        <a:solidFill>
                          <a:srgbClr val="E6EDF5"/>
                        </a:solidFill>
                      </a:rPr>
                      <a:t>185</a:t>
                    </a:r>
                  </a:p>
                </c:rich>
              </c:tx>
              <c:dLblPos val="outEnd"/>
              <c:showLegendKey val="0"/>
              <c:showVal val="1"/>
              <c:showCatName val="0"/>
              <c:showSerName val="0"/>
              <c:showPercent val="0"/>
              <c:showBubbleSize val="0"/>
            </c:dLbl>
            <c:dLbl>
              <c:idx val="2"/>
              <c:tx>
                <c:rich>
                  <a:bodyPr/>
                  <a:lstStyle/>
                  <a:p>
                    <a:r>
                      <a:rPr sz="1300">
                        <a:solidFill>
                          <a:srgbClr val="E6EDF5"/>
                        </a:solidFill>
                      </a:rPr>
                      <a:t>716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0 a 12 meses  ($403.625)</c:v>
                </c:pt>
                <c:pt idx="1">
                  <c:v>13 a 36 meses  ($858.713)</c:v>
                </c:pt>
                <c:pt idx="2">
                  <c:v>Más de 36 meses  ($3.003.639)</c:v>
                </c:pt>
              </c:strCache>
            </c:strRef>
          </c:cat>
          <c:val>
            <c:numRef>
              <c:f>Sheet1!$B$2:$B$4</c:f>
              <c:numCache>
                <c:formatCode>General</c:formatCode>
                <c:ptCount val="3"/>
                <c:pt idx="0">
                  <c:v>98</c:v>
                </c:pt>
                <c:pt idx="1">
                  <c:v>185</c:v>
                </c:pt>
                <c:pt idx="2">
                  <c:v>716</c:v>
                </c:pt>
              </c:numCache>
            </c:numRef>
          </c:val>
        </c:ser>
        <c:gapWidth val="55"/>
        <c:axId val="-2068027336"/>
        <c:axId val="-2113994440"/>
      </c:barChart>
      <c:catAx>
        <c:axId val="-2068027336"/>
        <c:scaling>
          <c:orientation val="maxMin"/>
        </c:scaling>
        <c:delete val="0"/>
        <c:axPos val="l"/>
        <c:majorTickMark val="out"/>
        <c:minorTickMark val="none"/>
        <c:tickLblPos val="nextTo"/>
        <c:spPr>
          <a:ln>
            <a:solidFill>
              <a:srgbClr val="3A4A5C"/>
            </a:solidFill>
          </a:ln>
        </c:spPr>
        <c:txPr>
          <a:bodyPr/>
          <a:lstStyle/>
          <a:p>
            <a:pPr>
              <a:defRPr sz="1300">
                <a:solidFill>
                  <a:srgbClr val="E6EDF5"/>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300">
          <a:solidFill>
            <a:srgbClr val="E6EDF5"/>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4C9BE0"/>
              </a:solidFill>
            </c:spPr>
          </c:dPt>
          <c:dPt>
            <c:idx val="1"/>
            <c:spPr>
              <a:solidFill>
                <a:srgbClr val="E84818"/>
              </a:solidFill>
            </c:spPr>
          </c:dPt>
          <c:dPt>
            <c:idx val="2"/>
            <c:spPr>
              <a:solidFill>
                <a:srgbClr val="E84818"/>
              </a:solidFill>
            </c:spPr>
          </c:dPt>
          <c:dLbls>
            <c:dLbl>
              <c:idx val="0"/>
              <c:tx>
                <c:rich>
                  <a:bodyPr/>
                  <a:lstStyle/>
                  <a:p>
                    <a:r>
                      <a:rPr sz="1400">
                        <a:solidFill>
                          <a:srgbClr val="E6EDF5"/>
                        </a:solidFill>
                      </a:rPr>
                      <a:t>903</a:t>
                    </a:r>
                  </a:p>
                </c:rich>
              </c:tx>
              <c:dLblPos val="outEnd"/>
              <c:showLegendKey val="0"/>
              <c:showVal val="1"/>
              <c:showCatName val="0"/>
              <c:showSerName val="0"/>
              <c:showPercent val="0"/>
              <c:showBubbleSize val="0"/>
            </c:dLbl>
            <c:dLbl>
              <c:idx val="1"/>
              <c:tx>
                <c:rich>
                  <a:bodyPr/>
                  <a:lstStyle/>
                  <a:p>
                    <a:r>
                      <a:rPr sz="1400">
                        <a:solidFill>
                          <a:srgbClr val="E6EDF5"/>
                        </a:solidFill>
                      </a:rPr>
                      <a:t>47</a:t>
                    </a:r>
                  </a:p>
                </c:rich>
              </c:tx>
              <c:dLblPos val="outEnd"/>
              <c:showLegendKey val="0"/>
              <c:showVal val="1"/>
              <c:showCatName val="0"/>
              <c:showSerName val="0"/>
              <c:showPercent val="0"/>
              <c:showBubbleSize val="0"/>
            </c:dLbl>
            <c:dLbl>
              <c:idx val="2"/>
              <c:tx>
                <c:rich>
                  <a:bodyPr/>
                  <a:lstStyle/>
                  <a:p>
                    <a:r>
                      <a:rPr sz="1400">
                        <a:solidFill>
                          <a:srgbClr val="E6EDF5"/>
                        </a:solidFill>
                      </a:rPr>
                      <a:t>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1 pedido</c:v>
                </c:pt>
                <c:pt idx="1">
                  <c:v>2 pedidos</c:v>
                </c:pt>
                <c:pt idx="2">
                  <c:v>3 pedidos</c:v>
                </c:pt>
              </c:strCache>
            </c:strRef>
          </c:cat>
          <c:val>
            <c:numRef>
              <c:f>Sheet1!$B$2:$B$4</c:f>
              <c:numCache>
                <c:formatCode>General</c:formatCode>
                <c:ptCount val="3"/>
                <c:pt idx="0">
                  <c:v>903</c:v>
                </c:pt>
                <c:pt idx="1">
                  <c:v>47</c:v>
                </c:pt>
                <c:pt idx="2">
                  <c:v>1</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3A4A5C"/>
            </a:solidFill>
          </a:ln>
        </c:spPr>
        <c:txPr>
          <a:bodyPr/>
          <a:lstStyle/>
          <a:p>
            <a:pPr>
              <a:defRPr sz="1400">
                <a:solidFill>
                  <a:srgbClr val="E6EDF5"/>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E6EDF5"/>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Doméstico</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E6EDF5"/>
                        </a:solidFill>
                      </a:rPr>
                      <a:t>Doméstico</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c:f>
              <c:numCache>
                <c:formatCode>General</c:formatCode>
                <c:ptCount val="1"/>
                <c:pt idx="0">
                  <c:v>268.79556902</c:v>
                </c:pt>
              </c:numCache>
            </c:numRef>
          </c:xVal>
          <c:yVal>
            <c:numRef>
              <c:f>Sheet1!$B$2:$B$2</c:f>
              <c:numCache>
                <c:formatCode>General</c:formatCode>
                <c:ptCount val="1"/>
                <c:pt idx="0">
                  <c:v>24.799856345489157</c:v>
                </c:pt>
              </c:numCache>
            </c:numRef>
          </c:yVal>
          <c:smooth val="0"/>
        </c:ser>
        <c:ser>
          <c:idx val="1"/>
          <c:order val="1"/>
          <c:tx>
            <c:strRef>
              <c:f>Sheet1!$B$4</c:f>
              <c:strCache>
                <c:ptCount val="1"/>
                <c:pt idx="0">
                  <c:v>Material de oficina</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E6EDF5"/>
                        </a:solidFill>
                      </a:rPr>
                      <a:t>Material de oficina</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Sheet1!$A$5:$A$5</c:f>
              <c:numCache>
                <c:formatCode>General</c:formatCode>
                <c:ptCount val="1"/>
                <c:pt idx="0">
                  <c:v>237.25208325</c:v>
                </c:pt>
              </c:numCache>
            </c:numRef>
          </c:xVal>
          <c:yVal>
            <c:numRef>
              <c:f>Sheet1!$B$5:$B$5</c:f>
              <c:numCache>
                <c:formatCode>General</c:formatCode>
                <c:ptCount val="1"/>
                <c:pt idx="0">
                  <c:v>19.38698730056358</c:v>
                </c:pt>
              </c:numCache>
            </c:numRef>
          </c:yVal>
          <c:smooth val="0"/>
        </c:ser>
        <c:ser>
          <c:idx val="2"/>
          <c:order val="2"/>
          <c:tx>
            <c:strRef>
              <c:f>Sheet1!$B$7</c:f>
              <c:strCache>
                <c:ptCount val="1"/>
                <c:pt idx="0">
                  <c:v>Cárnicos</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E6EDF5"/>
                        </a:solidFill>
                      </a:rPr>
                      <a:t>Cárnicos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Sheet1!$A$8:$A$8</c:f>
              <c:numCache>
                <c:formatCode>General</c:formatCode>
                <c:ptCount val="1"/>
                <c:pt idx="0">
                  <c:v>178.52275349999996</c:v>
                </c:pt>
              </c:numCache>
            </c:numRef>
          </c:xVal>
          <c:yVal>
            <c:numRef>
              <c:f>Sheet1!$B$8:$B$8</c:f>
              <c:numCache>
                <c:formatCode>General</c:formatCode>
                <c:ptCount val="1"/>
                <c:pt idx="0">
                  <c:v>13.558036455000137</c:v>
                </c:pt>
              </c:numCache>
            </c:numRef>
          </c:yVal>
          <c:smooth val="0"/>
        </c:ser>
        <c:ser>
          <c:idx val="3"/>
          <c:order val="3"/>
          <c:tx>
            <c:strRef>
              <c:f>Sheet1!$B$10</c:f>
              <c:strCache>
                <c:ptCount val="1"/>
                <c:pt idx="0">
                  <c:v>Cosméticos</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Cosméticos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Sheet1!$A$11:$A$11</c:f>
              <c:numCache>
                <c:formatCode>General</c:formatCode>
                <c:ptCount val="1"/>
                <c:pt idx="0">
                  <c:v>162.21519039999998</c:v>
                </c:pt>
              </c:numCache>
            </c:numRef>
          </c:xVal>
          <c:yVal>
            <c:numRef>
              <c:f>Sheet1!$B$11:$B$11</c:f>
              <c:numCache>
                <c:formatCode>General</c:formatCode>
                <c:ptCount val="1"/>
                <c:pt idx="0">
                  <c:v>39.768984446477575</c:v>
                </c:pt>
              </c:numCache>
            </c:numRef>
          </c:yVal>
          <c:smooth val="0"/>
        </c:ser>
        <c:ser>
          <c:idx val="4"/>
          <c:order val="4"/>
          <c:tx>
            <c:strRef>
              <c:f>Sheet1!$B$13</c:f>
              <c:strCache>
                <c:ptCount val="1"/>
                <c:pt idx="0">
                  <c:v>Alimento infantil</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Alimento infantil</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Sheet1!$A$14:$A$14</c:f>
              <c:numCache>
                <c:formatCode>General</c:formatCode>
                <c:ptCount val="1"/>
                <c:pt idx="0">
                  <c:v>110.21433192</c:v>
                </c:pt>
              </c:numCache>
            </c:numRef>
          </c:xVal>
          <c:yVal>
            <c:numRef>
              <c:f>Sheet1!$B$14:$B$14</c:f>
              <c:numCache>
                <c:formatCode>General</c:formatCode>
                <c:ptCount val="1"/>
                <c:pt idx="0">
                  <c:v>37.55092447508617</c:v>
                </c:pt>
              </c:numCache>
            </c:numRef>
          </c:yVal>
          <c:smooth val="0"/>
        </c:ser>
        <c:ser>
          <c:idx val="5"/>
          <c:order val="5"/>
          <c:tx>
            <c:strRef>
              <c:f>Sheet1!$B$16</c:f>
              <c:strCache>
                <c:ptCount val="1"/>
                <c:pt idx="0">
                  <c:v>Cereales</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Cereales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Sheet1!$A$17:$A$17</c:f>
              <c:numCache>
                <c:formatCode>General</c:formatCode>
                <c:ptCount val="1"/>
                <c:pt idx="0">
                  <c:v>93.40117049999999</c:v>
                </c:pt>
              </c:numCache>
            </c:numRef>
          </c:xVal>
          <c:yVal>
            <c:numRef>
              <c:f>Sheet1!$B$17:$B$17</c:f>
              <c:numCache>
                <c:formatCode>General</c:formatCode>
                <c:ptCount val="1"/>
                <c:pt idx="0">
                  <c:v>43.06757413709285</c:v>
                </c:pt>
              </c:numCache>
            </c:numRef>
          </c:yVal>
          <c:smooth val="0"/>
        </c:ser>
        <c:ser>
          <c:idx val="6"/>
          <c:order val="6"/>
          <c:tx>
            <c:strRef>
              <c:f>Sheet1!$B$19</c:f>
              <c:strCache>
                <c:ptCount val="1"/>
                <c:pt idx="0">
                  <c:v>Snacks</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Snacks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Sheet1!$A$20:$A$20</c:f>
              <c:numCache>
                <c:formatCode>General</c:formatCode>
                <c:ptCount val="1"/>
                <c:pt idx="0">
                  <c:v>71.1564459</c:v>
                </c:pt>
              </c:numCache>
            </c:numRef>
          </c:xVal>
          <c:yVal>
            <c:numRef>
              <c:f>Sheet1!$B$20:$B$20</c:f>
              <c:numCache>
                <c:formatCode>General</c:formatCode>
                <c:ptCount val="1"/>
                <c:pt idx="0">
                  <c:v>36.13841918993312</c:v>
                </c:pt>
              </c:numCache>
            </c:numRef>
          </c:yVal>
          <c:smooth val="0"/>
        </c:ser>
        <c:ser>
          <c:idx val="7"/>
          <c:order val="7"/>
          <c:tx>
            <c:strRef>
              <c:f>Sheet1!$B$22</c:f>
              <c:strCache>
                <c:ptCount val="1"/>
                <c:pt idx="0">
                  <c:v>Verduras</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Verduras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Sheet1!$A$23:$A$23</c:f>
              <c:numCache>
                <c:formatCode>General</c:formatCode>
                <c:ptCount val="1"/>
                <c:pt idx="0">
                  <c:v>63.617998580000005</c:v>
                </c:pt>
              </c:numCache>
            </c:numRef>
          </c:xVal>
          <c:yVal>
            <c:numRef>
              <c:f>Sheet1!$B$23:$B$23</c:f>
              <c:numCache>
                <c:formatCode>General</c:formatCode>
                <c:ptCount val="1"/>
                <c:pt idx="0">
                  <c:v>40.97754121770741</c:v>
                </c:pt>
              </c:numCache>
            </c:numRef>
          </c:yVal>
          <c:smooth val="0"/>
        </c:ser>
        <c:ser>
          <c:idx val="8"/>
          <c:order val="8"/>
          <c:tx>
            <c:strRef>
              <c:f>Sheet1!$B$25</c:f>
              <c:strCache>
                <c:ptCount val="1"/>
                <c:pt idx="0">
                  <c:v>Ropa</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Ropa</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Sheet1!$A$26:$A$26</c:f>
              <c:numCache>
                <c:formatCode>General</c:formatCode>
                <c:ptCount val="1"/>
                <c:pt idx="0">
                  <c:v>41.23615232</c:v>
                </c:pt>
              </c:numCache>
            </c:numRef>
          </c:xVal>
          <c:yVal>
            <c:numRef>
              <c:f>Sheet1!$B$26:$B$26</c:f>
              <c:numCache>
                <c:formatCode>General</c:formatCode>
                <c:ptCount val="1"/>
                <c:pt idx="0">
                  <c:v>67.20351390922403</c:v>
                </c:pt>
              </c:numCache>
            </c:numRef>
          </c:yVal>
          <c:smooth val="0"/>
        </c:ser>
        <c:ser>
          <c:idx val="9"/>
          <c:order val="9"/>
          <c:tx>
            <c:strRef>
              <c:f>Sheet1!$B$28</c:f>
              <c:strCache>
                <c:ptCount val="1"/>
                <c:pt idx="0">
                  <c:v>Cuidado personal</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Cuidado personal</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Sheet1!$A$29:$A$29</c:f>
              <c:numCache>
                <c:formatCode>General</c:formatCode>
                <c:ptCount val="1"/>
                <c:pt idx="0">
                  <c:v>37.20186139999999</c:v>
                </c:pt>
              </c:numCache>
            </c:numRef>
          </c:xVal>
          <c:yVal>
            <c:numRef>
              <c:f>Sheet1!$B$29:$B$29</c:f>
              <c:numCache>
                <c:formatCode>General</c:formatCode>
                <c:ptCount val="1"/>
                <c:pt idx="0">
                  <c:v>30.661935641747224</c:v>
                </c:pt>
              </c:numCache>
            </c:numRef>
          </c:yVal>
          <c:smooth val="0"/>
        </c:ser>
        <c:ser>
          <c:idx val="10"/>
          <c:order val="10"/>
          <c:tx>
            <c:strRef>
              <c:f>Sheet1!$B$31</c:f>
              <c:strCache>
                <c:ptCount val="1"/>
                <c:pt idx="0">
                  <c:v>Bebida</c:v>
                </c:pt>
              </c:strCache>
            </c:strRef>
          </c:tx>
          <c:spPr>
            <a:ln w="47625">
              <a:noFill/>
            </a:ln>
          </c:spPr>
          <c:marker>
            <c:symbol val="circle"/>
            <c:size val="11"/>
            <c:spPr>
              <a:solidFill>
                <a:srgbClr val="4C9BE0"/>
              </a:solidFill>
              <a:ln>
                <a:solidFill>
                  <a:srgbClr val="4C9BE0"/>
                </a:solidFill>
              </a:ln>
            </c:spPr>
          </c:marker>
          <c:dLbls>
            <c:dLbl>
              <c:idx val="0"/>
              <c:tx>
                <c:rich>
                  <a:bodyPr/>
                  <a:lstStyle/>
                  <a:p>
                    <a:r>
                      <a:rPr sz="1000">
                        <a:solidFill>
                          <a:srgbClr val="E6EDF5"/>
                        </a:solidFill>
                      </a:rPr>
                      <a:t>Bebida</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Sheet1!$A$32:$A$32</c:f>
              <c:numCache>
                <c:formatCode>General</c:formatCode>
                <c:ptCount val="1"/>
                <c:pt idx="0">
                  <c:v>21.6679476</c:v>
                </c:pt>
              </c:numCache>
            </c:numRef>
          </c:xVal>
          <c:yVal>
            <c:numRef>
              <c:f>Sheet1!$B$32:$B$32</c:f>
              <c:numCache>
                <c:formatCode>General</c:formatCode>
                <c:ptCount val="1"/>
                <c:pt idx="0">
                  <c:v>33.003161222339315</c:v>
                </c:pt>
              </c:numCache>
            </c:numRef>
          </c:yVal>
          <c:smooth val="0"/>
        </c:ser>
        <c:ser>
          <c:idx val="11"/>
          <c:order val="11"/>
          <c:tx>
            <c:strRef>
              <c:f>Sheet1!$B$34</c:f>
              <c:strCache>
                <c:ptCount val="1"/>
                <c:pt idx="0">
                  <c:v>Frutas</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E6EDF5"/>
                        </a:solidFill>
                      </a:rPr>
                      <a:t>Frutas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Sheet1!$A$35:$A$35</c:f>
              <c:numCache>
                <c:formatCode>General</c:formatCode>
                <c:ptCount val="1"/>
                <c:pt idx="0">
                  <c:v>3.82039242</c:v>
                </c:pt>
              </c:numCache>
            </c:numRef>
          </c:xVal>
          <c:yVal>
            <c:numRef>
              <c:f>Sheet1!$B$35:$B$35</c:f>
              <c:numCache>
                <c:formatCode>General</c:formatCode>
                <c:ptCount val="1"/>
                <c:pt idx="0">
                  <c:v>25.83065380493034</c:v>
                </c:pt>
              </c:numCache>
            </c:numRef>
          </c:yVal>
          <c:smooth val="0"/>
        </c:ser>
        <c:ser>
          <c:idx val="12"/>
          <c:order val="12"/>
          <c:tx>
            <c:strRef>
              <c:f>Sheet1!$B$37</c:f>
              <c:strCache>
                <c:ptCount val="1"/>
                <c:pt idx="0">
                  <c:v>Margen total</c:v>
                </c:pt>
              </c:strCache>
            </c:strRef>
          </c:tx>
          <c:spPr>
            <a:ln w="19050">
              <a:solidFill>
                <a:srgbClr val="9FB0C3"/>
              </a:solidFill>
              <a:prstDash val="dash"/>
            </a:ln>
          </c:spPr>
          <c:marker>
            <c:symbol val="none"/>
          </c:marker>
          <c:xVal>
            <c:numRef>
              <c:f>Sheet1!$A$38:$A$39</c:f>
              <c:numCache>
                <c:formatCode>General</c:formatCode>
                <c:ptCount val="2"/>
                <c:pt idx="0">
                  <c:v>0</c:v>
                </c:pt>
                <c:pt idx="1">
                  <c:v>300</c:v>
                </c:pt>
              </c:numCache>
            </c:numRef>
          </c:xVal>
          <c:yVal>
            <c:numRef>
              <c:f>Sheet1!$B$38:$B$39</c:f>
              <c:numCache>
                <c:formatCode>General</c:formatCode>
                <c:ptCount val="2"/>
                <c:pt idx="0">
                  <c:v>29.635002506423778</c:v>
                </c:pt>
                <c:pt idx="1">
                  <c:v>29.635002506423778</c:v>
                </c:pt>
              </c:numCache>
            </c:numRef>
          </c:yVal>
          <c:smooth val="0"/>
        </c:ser>
        <c:axId val="-2128940872"/>
        <c:axId val="-2129643912"/>
      </c:scatterChart>
      <c:valAx>
        <c:axId val="-2128940872"/>
        <c:scaling>
          <c:orientation val="minMax"/>
          <c:max val="300.0"/>
          <c:min val="0.0"/>
        </c:scaling>
        <c:delete val="0"/>
        <c:axPos val="b"/>
        <c:title>
          <c:tx>
            <c:rich>
              <a:bodyPr/>
              <a:lstStyle/>
              <a:p>
                <a:r>
                  <a:rPr sz="1100">
                    <a:solidFill>
                      <a:srgbClr val="9FB0C3"/>
                    </a:solidFill>
                  </a:rPr>
                  <a:t>Ventas (€ millones)</a:t>
                </a:r>
              </a:p>
            </c:rich>
          </c:tx>
          <c:layout/>
          <c:overlay val="0"/>
        </c:title>
        <c:numFmt formatCode="General" sourceLinked="1"/>
        <c:majorTickMark val="out"/>
        <c:minorTickMark val="none"/>
        <c:tickLblPos val="nextTo"/>
        <c:spPr>
          <a:ln>
            <a:solidFill>
              <a:srgbClr val="3A4A5C"/>
            </a:solidFill>
          </a:ln>
        </c:spPr>
        <c:txPr>
          <a:bodyPr/>
          <a:lstStyle/>
          <a:p>
            <a:pPr>
              <a:defRPr>
                <a:solidFill>
                  <a:srgbClr val="9FB0C3"/>
                </a:solidFill>
              </a:defRPr>
            </a:pPr>
          </a:p>
        </c:txPr>
        <c:crossAx val="-2129643912"/>
        <c:crosses val="autoZero"/>
        <c:crossBetween val="midCat"/>
      </c:valAx>
      <c:valAx>
        <c:axId val="-2129643912"/>
        <c:scaling>
          <c:orientation val="minMax"/>
          <c:max val="80.0"/>
          <c:min val="0.0"/>
        </c:scaling>
        <c:delete val="0"/>
        <c:axPos val="l"/>
        <c:majorGridlines>
          <c:spPr>
            <a:ln>
              <a:solidFill>
                <a:srgbClr val="263646"/>
              </a:solidFill>
            </a:ln>
          </c:spPr>
        </c:majorGridlines>
        <c:title>
          <c:tx>
            <c:rich>
              <a:bodyPr/>
              <a:lstStyle/>
              <a:p>
                <a:r>
                  <a:rPr sz="1100">
                    <a:solidFill>
                      <a:srgbClr val="9FB0C3"/>
                    </a:solidFill>
                  </a:rPr>
                  <a:t>Margen bruto (%)</a:t>
                </a:r>
              </a:p>
            </c:rich>
          </c:tx>
          <c:layout/>
          <c:overlay val="0"/>
        </c:title>
        <c:numFmt formatCode="General" sourceLinked="1"/>
        <c:majorTickMark val="out"/>
        <c:minorTickMark val="none"/>
        <c:tickLblPos val="nextTo"/>
        <c:spPr>
          <a:ln>
            <a:solidFill>
              <a:srgbClr val="3A4A5C"/>
            </a:solidFill>
          </a:ln>
        </c:spPr>
        <c:txPr>
          <a:bodyPr/>
          <a:lstStyle/>
          <a:p>
            <a:pPr>
              <a:defRPr>
                <a:solidFill>
                  <a:srgbClr val="9FB0C3"/>
                </a:solidFill>
              </a:defRPr>
            </a:pPr>
          </a:p>
        </c:txPr>
        <c:crossAx val="-2128940872"/>
        <c:crosses val="autoZero"/>
        <c:crossBetween val="midCat"/>
      </c:valAx>
    </c:plotArea>
    <c:plotVisOnly val="1"/>
    <c:dispBlanksAs val="gap"/>
    <c:showDLblsOverMax val="0"/>
  </c:chart>
  <c:txPr>
    <a:bodyPr/>
    <a:lstStyle/>
    <a:p>
      <a:pPr>
        <a:defRPr sz="1100">
          <a:solidFill>
            <a:srgbClr val="E6EDF5"/>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4C9BE0"/>
              </a:solidFill>
            </c:spPr>
          </c:dPt>
          <c:dPt>
            <c:idx val="1"/>
            <c:spPr>
              <a:solidFill>
                <a:srgbClr val="4C9BE0"/>
              </a:solidFill>
            </c:spPr>
          </c:dPt>
          <c:dPt>
            <c:idx val="2"/>
            <c:spPr>
              <a:solidFill>
                <a:srgbClr val="4C9BE0"/>
              </a:solidFill>
            </c:spPr>
          </c:dPt>
          <c:dPt>
            <c:idx val="3"/>
            <c:spPr>
              <a:solidFill>
                <a:srgbClr val="4C9BE0"/>
              </a:solidFill>
            </c:spPr>
          </c:dPt>
          <c:dPt>
            <c:idx val="4"/>
            <c:spPr>
              <a:solidFill>
                <a:srgbClr val="4C9BE0"/>
              </a:solidFill>
            </c:spPr>
          </c:dPt>
          <c:dPt>
            <c:idx val="5"/>
            <c:spPr>
              <a:solidFill>
                <a:srgbClr val="E84818"/>
              </a:solidFill>
            </c:spPr>
          </c:dPt>
          <c:dLbls>
            <c:dLbl>
              <c:idx val="0"/>
              <c:tx>
                <c:rich>
                  <a:bodyPr/>
                  <a:lstStyle/>
                  <a:p>
                    <a:r>
                      <a:rPr sz="1200">
                        <a:solidFill>
                          <a:srgbClr val="E6EDF5"/>
                        </a:solidFill>
                      </a:rPr>
                      <a:t>38,7 %</a:t>
                    </a:r>
                  </a:p>
                </c:rich>
              </c:tx>
              <c:dLblPos val="outEnd"/>
              <c:showLegendKey val="0"/>
              <c:showVal val="1"/>
              <c:showCatName val="0"/>
              <c:showSerName val="0"/>
              <c:showPercent val="0"/>
              <c:showBubbleSize val="0"/>
            </c:dLbl>
            <c:dLbl>
              <c:idx val="1"/>
              <c:tx>
                <c:rich>
                  <a:bodyPr/>
                  <a:lstStyle/>
                  <a:p>
                    <a:r>
                      <a:rPr sz="1200">
                        <a:solidFill>
                          <a:srgbClr val="E6EDF5"/>
                        </a:solidFill>
                      </a:rPr>
                      <a:t>22,2 %</a:t>
                    </a:r>
                  </a:p>
                </c:rich>
              </c:tx>
              <c:dLblPos val="outEnd"/>
              <c:showLegendKey val="0"/>
              <c:showVal val="1"/>
              <c:showCatName val="0"/>
              <c:showSerName val="0"/>
              <c:showPercent val="0"/>
              <c:showBubbleSize val="0"/>
            </c:dLbl>
            <c:dLbl>
              <c:idx val="2"/>
              <c:tx>
                <c:rich>
                  <a:bodyPr/>
                  <a:lstStyle/>
                  <a:p>
                    <a:r>
                      <a:rPr sz="1200">
                        <a:solidFill>
                          <a:srgbClr val="E6EDF5"/>
                        </a:solidFill>
                      </a:rPr>
                      <a:t>15,0 %</a:t>
                    </a:r>
                  </a:p>
                </c:rich>
              </c:tx>
              <c:dLblPos val="outEnd"/>
              <c:showLegendKey val="0"/>
              <c:showVal val="1"/>
              <c:showCatName val="0"/>
              <c:showSerName val="0"/>
              <c:showPercent val="0"/>
              <c:showBubbleSize val="0"/>
            </c:dLbl>
            <c:dLbl>
              <c:idx val="3"/>
              <c:tx>
                <c:rich>
                  <a:bodyPr/>
                  <a:lstStyle/>
                  <a:p>
                    <a:r>
                      <a:rPr sz="1200">
                        <a:solidFill>
                          <a:srgbClr val="E6EDF5"/>
                        </a:solidFill>
                      </a:rPr>
                      <a:t>11,9 %</a:t>
                    </a:r>
                  </a:p>
                </c:rich>
              </c:tx>
              <c:dLblPos val="outEnd"/>
              <c:showLegendKey val="0"/>
              <c:showVal val="1"/>
              <c:showCatName val="0"/>
              <c:showSerName val="0"/>
              <c:showPercent val="0"/>
              <c:showBubbleSize val="0"/>
            </c:dLbl>
            <c:dLbl>
              <c:idx val="4"/>
              <c:tx>
                <c:rich>
                  <a:bodyPr/>
                  <a:lstStyle/>
                  <a:p>
                    <a:r>
                      <a:rPr sz="1200">
                        <a:solidFill>
                          <a:srgbClr val="E6EDF5"/>
                        </a:solidFill>
                      </a:rPr>
                      <a:t>10,0 %</a:t>
                    </a:r>
                  </a:p>
                </c:rich>
              </c:tx>
              <c:dLblPos val="outEnd"/>
              <c:showLegendKey val="0"/>
              <c:showVal val="1"/>
              <c:showCatName val="0"/>
              <c:showSerName val="0"/>
              <c:showPercent val="0"/>
              <c:showBubbleSize val="0"/>
            </c:dLbl>
            <c:dLbl>
              <c:idx val="5"/>
              <c:tx>
                <c:rich>
                  <a:bodyPr/>
                  <a:lstStyle/>
                  <a:p>
                    <a:r>
                      <a:rPr sz="1200">
                        <a:solidFill>
                          <a:srgbClr val="E6EDF5"/>
                        </a:solidFill>
                      </a:rPr>
                      <a:t>2,2 %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África</c:v>
                </c:pt>
                <c:pt idx="1">
                  <c:v>Europa</c:v>
                </c:pt>
                <c:pt idx="2">
                  <c:v>Asia</c:v>
                </c:pt>
                <c:pt idx="3">
                  <c:v>Centroamérica y Caribe</c:v>
                </c:pt>
                <c:pt idx="4">
                  <c:v>Australia y Oceanía</c:v>
                </c:pt>
                <c:pt idx="5">
                  <c:v>Norteamérica</c:v>
                </c:pt>
              </c:strCache>
            </c:strRef>
          </c:cat>
          <c:val>
            <c:numRef>
              <c:f>Sheet1!$B$2:$B$7</c:f>
              <c:numCache>
                <c:formatCode>General</c:formatCode>
                <c:ptCount val="6"/>
                <c:pt idx="0">
                  <c:v>38.705915847670276</c:v>
                </c:pt>
                <c:pt idx="1">
                  <c:v>22.158545199325008</c:v>
                </c:pt>
                <c:pt idx="2">
                  <c:v>15.046142205668302</c:v>
                </c:pt>
                <c:pt idx="3">
                  <c:v>11.90242856206227</c:v>
                </c:pt>
                <c:pt idx="4">
                  <c:v>10.017551659768705</c:v>
                </c:pt>
                <c:pt idx="5">
                  <c:v>2.169416525505423</c:v>
                </c:pt>
              </c:numCache>
            </c:numRef>
          </c:val>
        </c:ser>
        <c:gapWidth val="40"/>
        <c:axId val="-2068027336"/>
        <c:axId val="-2113994440"/>
      </c:barChart>
      <c:catAx>
        <c:axId val="-2068027336"/>
        <c:scaling>
          <c:orientation val="maxMin"/>
        </c:scaling>
        <c:delete val="0"/>
        <c:axPos val="l"/>
        <c:majorTickMark val="out"/>
        <c:minorTickMark val="none"/>
        <c:tickLblPos val="nextTo"/>
        <c:spPr>
          <a:ln>
            <a:solidFill>
              <a:srgbClr val="3A4A5C"/>
            </a:solidFill>
          </a:ln>
        </c:spPr>
        <c:txPr>
          <a:bodyPr/>
          <a:lstStyle/>
          <a:p>
            <a:pPr>
              <a:defRPr sz="1200">
                <a:solidFill>
                  <a:srgbClr val="E6EDF5"/>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200">
          <a:solidFill>
            <a:srgbClr val="E6EDF5"/>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4C9BE0"/>
              </a:solidFill>
            </c:spPr>
          </c:dPt>
          <c:dPt>
            <c:idx val="1"/>
            <c:spPr>
              <a:solidFill>
                <a:srgbClr val="4C9BE0"/>
              </a:solidFill>
            </c:spPr>
          </c:dPt>
          <c:dPt>
            <c:idx val="2"/>
            <c:spPr>
              <a:solidFill>
                <a:srgbClr val="E84818"/>
              </a:solidFill>
            </c:spPr>
          </c:dPt>
          <c:dLbls>
            <c:dLbl>
              <c:idx val="0"/>
              <c:tx>
                <c:rich>
                  <a:bodyPr/>
                  <a:lstStyle/>
                  <a:p>
                    <a:r>
                      <a:rPr sz="1200">
                        <a:solidFill>
                          <a:srgbClr val="E6EDF5"/>
                        </a:solidFill>
                      </a:rPr>
                      <a:t>344,6</a:t>
                    </a:r>
                  </a:p>
                </c:rich>
              </c:tx>
              <c:dLblPos val="outEnd"/>
              <c:showLegendKey val="0"/>
              <c:showVal val="1"/>
              <c:showCatName val="0"/>
              <c:showSerName val="0"/>
              <c:showPercent val="0"/>
              <c:showBubbleSize val="0"/>
            </c:dLbl>
            <c:dLbl>
              <c:idx val="1"/>
              <c:tx>
                <c:rich>
                  <a:bodyPr/>
                  <a:lstStyle/>
                  <a:p>
                    <a:r>
                      <a:rPr sz="1200">
                        <a:solidFill>
                          <a:srgbClr val="E6EDF5"/>
                        </a:solidFill>
                      </a:rPr>
                      <a:t>420,0</a:t>
                    </a:r>
                  </a:p>
                </c:rich>
              </c:tx>
              <c:dLblPos val="outEnd"/>
              <c:showLegendKey val="0"/>
              <c:showVal val="1"/>
              <c:showCatName val="0"/>
              <c:showSerName val="0"/>
              <c:showPercent val="0"/>
              <c:showBubbleSize val="0"/>
            </c:dLbl>
            <c:dLbl>
              <c:idx val="2"/>
              <c:tx>
                <c:rich>
                  <a:bodyPr/>
                  <a:lstStyle/>
                  <a:p>
                    <a:r>
                      <a:rPr sz="1200">
                        <a:solidFill>
                          <a:srgbClr val="E6EDF5"/>
                        </a:solidFill>
                      </a:rPr>
                      <a:t>360,1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2020</c:v>
                </c:pt>
                <c:pt idx="1">
                  <c:v>2021</c:v>
                </c:pt>
                <c:pt idx="2">
                  <c:v>2022</c:v>
                </c:pt>
              </c:strCache>
            </c:strRef>
          </c:cat>
          <c:val>
            <c:numRef>
              <c:f>Sheet1!$B$2:$B$4</c:f>
              <c:numCache>
                <c:formatCode>General</c:formatCode>
                <c:ptCount val="3"/>
                <c:pt idx="0">
                  <c:v>344.62601916</c:v>
                </c:pt>
                <c:pt idx="1">
                  <c:v>420.0286669499998</c:v>
                </c:pt>
                <c:pt idx="2">
                  <c:v>360.0974598100003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3A4A5C"/>
            </a:solidFill>
          </a:ln>
        </c:spPr>
        <c:txPr>
          <a:bodyPr/>
          <a:lstStyle/>
          <a:p>
            <a:pPr>
              <a:defRPr sz="1200">
                <a:solidFill>
                  <a:srgbClr val="E6EDF5"/>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200">
          <a:solidFill>
            <a:srgbClr val="E6EDF5"/>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4C9BE0"/>
              </a:solidFill>
            </c:spPr>
          </c:dPt>
          <c:dPt>
            <c:idx val="1"/>
            <c:spPr>
              <a:solidFill>
                <a:srgbClr val="4C9BE0"/>
              </a:solidFill>
            </c:spPr>
          </c:dPt>
          <c:dPt>
            <c:idx val="2"/>
            <c:spPr>
              <a:solidFill>
                <a:srgbClr val="4C9BE0"/>
              </a:solidFill>
            </c:spPr>
          </c:dPt>
          <c:dPt>
            <c:idx val="3"/>
            <c:spPr>
              <a:solidFill>
                <a:srgbClr val="4C9BE0"/>
              </a:solidFill>
            </c:spPr>
          </c:dPt>
          <c:dPt>
            <c:idx val="4"/>
            <c:spPr>
              <a:solidFill>
                <a:srgbClr val="4C9BE0"/>
              </a:solidFill>
            </c:spPr>
          </c:dPt>
          <c:dLbls>
            <c:dLbl>
              <c:idx val="0"/>
              <c:tx>
                <c:rich>
                  <a:bodyPr/>
                  <a:lstStyle/>
                  <a:p>
                    <a:r>
                      <a:rPr sz="1400">
                        <a:solidFill>
                          <a:srgbClr val="E6EDF5"/>
                        </a:solidFill>
                      </a:rPr>
                      <a:t>208</a:t>
                    </a:r>
                  </a:p>
                </c:rich>
              </c:tx>
              <c:dLblPos val="outEnd"/>
              <c:showLegendKey val="0"/>
              <c:showVal val="1"/>
              <c:showCatName val="0"/>
              <c:showSerName val="0"/>
              <c:showPercent val="0"/>
              <c:showBubbleSize val="0"/>
            </c:dLbl>
            <c:dLbl>
              <c:idx val="1"/>
              <c:tx>
                <c:rich>
                  <a:bodyPr/>
                  <a:lstStyle/>
                  <a:p>
                    <a:r>
                      <a:rPr sz="1400">
                        <a:solidFill>
                          <a:srgbClr val="E6EDF5"/>
                        </a:solidFill>
                      </a:rPr>
                      <a:t>190</a:t>
                    </a:r>
                  </a:p>
                </c:rich>
              </c:tx>
              <c:dLblPos val="outEnd"/>
              <c:showLegendKey val="0"/>
              <c:showVal val="1"/>
              <c:showCatName val="0"/>
              <c:showSerName val="0"/>
              <c:showPercent val="0"/>
              <c:showBubbleSize val="0"/>
            </c:dLbl>
            <c:dLbl>
              <c:idx val="2"/>
              <c:tx>
                <c:rich>
                  <a:bodyPr/>
                  <a:lstStyle/>
                  <a:p>
                    <a:r>
                      <a:rPr sz="1400">
                        <a:solidFill>
                          <a:srgbClr val="E6EDF5"/>
                        </a:solidFill>
                      </a:rPr>
                      <a:t>190</a:t>
                    </a:r>
                  </a:p>
                </c:rich>
              </c:tx>
              <c:dLblPos val="outEnd"/>
              <c:showLegendKey val="0"/>
              <c:showVal val="1"/>
              <c:showCatName val="0"/>
              <c:showSerName val="0"/>
              <c:showPercent val="0"/>
              <c:showBubbleSize val="0"/>
            </c:dLbl>
            <c:dLbl>
              <c:idx val="3"/>
              <c:tx>
                <c:rich>
                  <a:bodyPr/>
                  <a:lstStyle/>
                  <a:p>
                    <a:r>
                      <a:rPr sz="1400">
                        <a:solidFill>
                          <a:srgbClr val="E6EDF5"/>
                        </a:solidFill>
                      </a:rPr>
                      <a:t>203</a:t>
                    </a:r>
                  </a:p>
                </c:rich>
              </c:tx>
              <c:dLblPos val="outEnd"/>
              <c:showLegendKey val="0"/>
              <c:showVal val="1"/>
              <c:showCatName val="0"/>
              <c:showSerName val="0"/>
              <c:showPercent val="0"/>
              <c:showBubbleSize val="0"/>
            </c:dLbl>
            <c:dLbl>
              <c:idx val="4"/>
              <c:tx>
                <c:rich>
                  <a:bodyPr/>
                  <a:lstStyle/>
                  <a:p>
                    <a:r>
                      <a:rPr sz="1400">
                        <a:solidFill>
                          <a:srgbClr val="E6EDF5"/>
                        </a:solidFill>
                      </a:rPr>
                      <a:t>208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Grupo A</c:v>
                </c:pt>
                <c:pt idx="1">
                  <c:v>Grupo B</c:v>
                </c:pt>
                <c:pt idx="2">
                  <c:v>Grupo C</c:v>
                </c:pt>
                <c:pt idx="3">
                  <c:v>Grupo D</c:v>
                </c:pt>
                <c:pt idx="4">
                  <c:v>Grupo E</c:v>
                </c:pt>
              </c:strCache>
            </c:strRef>
          </c:cat>
          <c:val>
            <c:numRef>
              <c:f>Sheet1!$B$2:$B$6</c:f>
              <c:numCache>
                <c:formatCode>General</c:formatCode>
                <c:ptCount val="5"/>
                <c:pt idx="0">
                  <c:v>208</c:v>
                </c:pt>
                <c:pt idx="1">
                  <c:v>190</c:v>
                </c:pt>
                <c:pt idx="2">
                  <c:v>190</c:v>
                </c:pt>
                <c:pt idx="3">
                  <c:v>203</c:v>
                </c:pt>
                <c:pt idx="4">
                  <c:v>208</c:v>
                </c:pt>
              </c:numCache>
            </c:numRef>
          </c:val>
        </c:ser>
        <c:gapWidth val="50"/>
        <c:axId val="-2068027336"/>
        <c:axId val="-2113994440"/>
      </c:barChart>
      <c:catAx>
        <c:axId val="-2068027336"/>
        <c:scaling>
          <c:orientation val="minMax"/>
        </c:scaling>
        <c:delete val="0"/>
        <c:axPos val="b"/>
        <c:majorTickMark val="out"/>
        <c:minorTickMark val="none"/>
        <c:tickLblPos val="nextTo"/>
        <c:spPr>
          <a:ln>
            <a:solidFill>
              <a:srgbClr val="3A4A5C"/>
            </a:solidFill>
          </a:ln>
        </c:spPr>
        <c:txPr>
          <a:bodyPr/>
          <a:lstStyle/>
          <a:p>
            <a:pPr>
              <a:defRPr sz="1400">
                <a:solidFill>
                  <a:srgbClr val="E6EDF5"/>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E6EDF5"/>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tablero de Power BI para la alta dirección de Air Transport. El tablero tiene cuatro páginas (operativo, táctico, estratégico y datos y alcance) y responde tres preguntas: cómo se vende, cómo se cuida a los proveedores y a quién conviene fidelizar. Cada diapositiva muestra una cifra del tablero y la decisión que podría tomar la empresa a partir de ella.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fuentes llegaron sucias. En ventas, los importes eran texto con el símbolo € y comas; los convertí a número y pasé las fechas a formato ISO. En proveedores, los saldos eran texto con $; descarté dos columnas sin encabezado. En clientes, parte de las direcciones estaba desordenada entre columnas, así que el país se infiere del formato: Estados Unidos si aparece «Ciudad, ST 12345» y Reino Unido en el resto. No incorporé nombres, correos, teléfonos, direcciones ni fechas de nacimiento porque el análisis no los necesita. Ventas va del 01/01/2020 al 07/11/2022; noviembre de 2022 está incompleto.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hay un navegador de páginas con cuatro pestañas: Operativo, Táctico, Estratégico y Datos y alcance. Los filtros de año, zona, canal, prioridad y producto están sincronizados entre las páginas operativa y estratégica. Al hacer clic en una barra o en un punto se filtra el resto de los gráficos de ventas. El botón Limpiar filtros vuelve todo al estado inicial. Al pasar el mouse por un producto o una zona aparece un cuadro con ventas, margen y pedidos. Con clic derecho sobre un producto y la opción Obtención de detalles se abre una página con sus ventas por mes, zona y canal y la lista de sus pedidos; el botón Volver regresa.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ventas suman €1.289,1 millones, el costo €907,1 millones y el margen bruto 29,6 %. El ticket medio es de €1,29 millones por pedido. Los tres productos que más venden son Doméstico (€268,8 M), Material de oficina (€237,3 M) y Cárnicos (€178,5 M), y los tres tienen margen por debajo del 30 %. Cárnicos es el peor con 13,6 %. Ropa tiene el mejor margen (67,2 %) pero vende solo €41,2 M. Las barras naranjas son los productos con margen por debajo del total.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plazo promedio entre pedido y envío es de 24,0 días. Por prioridad: Crítica 24,9, Alta 23,2, Media 24,2 y Baja 23,9. La prioridad Crítica es en realidad la más lenta: la prioridad no se está traduciendo en rapidez. En el tablero, la tabla de seguimiento de pedidos se ordena por plazo y permite buscar un pedido por país, producto o número.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saldo pendiente total es de $4.265.977 repartido en 999 proveedores. Medido contra la última compra del archivo (4/5/2022), solo 98 compraron en los últimos 12 meses; 185 entre 13 y 36 meses y 716 hace más de 36 meses. En total, 901 proveedores (90,2 %) llevan más de un año sin comprar y tienen $3.862.352 del saldo (90,5 %). Los de más de 36 meses suman $3.003.639. El saldo está muy repartido: los 10 mayores son solo el 2,2 % del total. Ojo: los saldos están en dólares y las ventas en euros; no se convierten.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las ventas hay 951 clientes distintos para 1000 pedidos. De ellos, 48 (5,0 %) compraron más de una vez y el máximo es de 3 pedidos. Es decir: 903 clientes compraron una sola vez, 47 dos veces y 1 tres veces. La fidelización es la oportunidad más clara: casi nadie vuelve a comprar. Importante: estos clientes se identifican por el ID de las ventas, que no coincide con el archivo de clientes; por eso no se puede decir de qué grupo 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punto es un producto: a la derecha vende más y arriba rinde más. La línea marca el margen total (29,6 %). Ropa está arriba a la izquierda: el mejor margen (67,2 %) pero solo €41,2 M de ventas. Doméstico (24,8 %), Material de oficina (19,4 %) y Cárnicos (13,6 %) están abajo a la derecha: venden mucho pero dejan poco. En Power BI es el gráfico de dispersión de la página estratégica.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África concentra 38,7 % de las ventas y Norteamérica solo 2,2 %. Hay 184 países y los 10 primeros suman apenas 13,3 %: las ventas están muy repartidas. Para la tendencia comparo enero a octubre, porque noviembre de 2022 está incompleto. En 2020 se vendieron €344,6 M, en 2021 €420,0 M y en 2022 €360,1 M. 2022 cae 14,3 % frente a 2021 con la misma cantidad de pedidos (301 contra 301): lo que baja es el importe por pedido.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grupos A a E tienen entre 190 y 208 clientes y una edad promedio de 40,9 años en todos (entre 40,6 y 41,2). Por país, 542 clientes están en Estados Unidos y 457 en Reino Unido. Con estos datos los grupos no se diferencian: habría que preguntar qué criterio los define. Y como las ventas no comparten ID con este archivo, tampoco se puede medir cuánto vale cada grupo.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 las decisiones por nivel. Operativas: lo que se puede corregir esta semana (precio y costo de Cárnicos, plazo de los pedidos críticos). Tácticas: cómo se gestiona la relación con proveedores y clientes (conciliar saldos, recompra). Estratégicas: hacia dónde crecer (política por producto, zonas y ticket medio). Son decisiones para evaluar, no órdenes: el tablero muestra dónde mirar primero.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límites de los datos y conviene decirlos antes de que pregunten. Uno: ninguno de los 951 IDs de cliente de las ventas figura en el archivo de clientes, así que no se puede medir ventas por grupo de cliente ni por país de residencia. Dos: las ventas no traen identificador de proveedor. Tres: las ventas están en euros y los saldos en dólares, sin conversión. Cuatro: noviembre de 2022 está incompleto. Cinco: la antigüedad de los proveedores se mide contra la última fecha del archivo, no contra hoy. Seis: el país de cada cliente se infiere de la dirección. Si preguntan por el rubro: los productos son bienes de consumo y no servicios aéreos; el trabajo trata los datos como los de la empresa sin suponer nada más. Próximo paso: pedir un ID común entre ventas y clientes y la moneda de los saldos.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72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6.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754880" cy="68580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548640"/>
            <a:ext cx="4023360" cy="1463040"/>
          </a:xfrm>
          <a:prstGeom prst="roundRect">
            <a:avLst>
              <a:gd name="adj" fmla="val 8000"/>
            </a:avLst>
          </a:prstGeom>
          <a:solidFill>
            <a:srgbClr val="0D17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Logo Air Transport" descr="Logo de Air Transport: un avión naranja y el nombre"/>
          <p:cNvGrpSpPr/>
          <p:nvPr/>
        </p:nvGrpSpPr>
        <p:grpSpPr>
          <a:xfrm>
            <a:off x="566928" y="724670"/>
            <a:ext cx="3621024" cy="1079166"/>
            <a:chOff x="566928" y="724670"/>
            <a:chExt cx="3621024" cy="1079166"/>
          </a:xfrm>
        </p:grpSpPr>
        <p:sp>
          <p:nvSpPr>
            <p:cNvPr id="5" name="Logo estela"/>
            <p:cNvSpPr/>
            <p:nvPr/>
          </p:nvSpPr>
          <p:spPr>
            <a:xfrm>
              <a:off x="566928" y="1244316"/>
              <a:ext cx="627644" cy="410382"/>
            </a:xfrm>
            <a:custGeom>
              <a:avLst/>
              <a:gdLst/>
              <a:ahLst/>
              <a:cxnLst/>
              <a:rect l="l" t="t" r="r" b="b"/>
              <a:pathLst>
                <a:path w="627644" h="410382">
                  <a:moveTo>
                    <a:pt x="0" y="362102"/>
                  </a:moveTo>
                  <a:lnTo>
                    <a:pt x="43237" y="326164"/>
                  </a:lnTo>
                  <a:lnTo>
                    <a:pt x="88402" y="290855"/>
                  </a:lnTo>
                  <a:lnTo>
                    <a:pt x="135411" y="256300"/>
                  </a:lnTo>
                  <a:lnTo>
                    <a:pt x="184180" y="222625"/>
                  </a:lnTo>
                  <a:lnTo>
                    <a:pt x="234626" y="189957"/>
                  </a:lnTo>
                  <a:lnTo>
                    <a:pt x="286664" y="158419"/>
                  </a:lnTo>
                  <a:lnTo>
                    <a:pt x="340211" y="128139"/>
                  </a:lnTo>
                  <a:lnTo>
                    <a:pt x="395183" y="99242"/>
                  </a:lnTo>
                  <a:lnTo>
                    <a:pt x="451496" y="71854"/>
                  </a:lnTo>
                  <a:lnTo>
                    <a:pt x="509067" y="46101"/>
                  </a:lnTo>
                  <a:lnTo>
                    <a:pt x="567811" y="22107"/>
                  </a:lnTo>
                  <a:lnTo>
                    <a:pt x="627644" y="0"/>
                  </a:lnTo>
                  <a:lnTo>
                    <a:pt x="578889" y="33199"/>
                  </a:lnTo>
                  <a:lnTo>
                    <a:pt x="529295" y="66441"/>
                  </a:lnTo>
                  <a:lnTo>
                    <a:pt x="479031" y="99766"/>
                  </a:lnTo>
                  <a:lnTo>
                    <a:pt x="428264" y="133217"/>
                  </a:lnTo>
                  <a:lnTo>
                    <a:pt x="377162" y="166836"/>
                  </a:lnTo>
                  <a:lnTo>
                    <a:pt x="325892" y="200665"/>
                  </a:lnTo>
                  <a:lnTo>
                    <a:pt x="274622" y="234744"/>
                  </a:lnTo>
                  <a:lnTo>
                    <a:pt x="223520" y="269118"/>
                  </a:lnTo>
                  <a:lnTo>
                    <a:pt x="172753" y="303826"/>
                  </a:lnTo>
                  <a:lnTo>
                    <a:pt x="122489" y="338912"/>
                  </a:lnTo>
                  <a:lnTo>
                    <a:pt x="72895" y="374416"/>
                  </a:lnTo>
                  <a:lnTo>
                    <a:pt x="24140" y="410382"/>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ogo avión fuselaje"/>
            <p:cNvSpPr/>
            <p:nvPr/>
          </p:nvSpPr>
          <p:spPr>
            <a:xfrm>
              <a:off x="1136802" y="724670"/>
              <a:ext cx="361739" cy="524503"/>
            </a:xfrm>
            <a:custGeom>
              <a:avLst/>
              <a:gdLst/>
              <a:ahLst/>
              <a:cxnLst/>
              <a:rect l="l" t="t" r="r" b="b"/>
              <a:pathLst>
                <a:path w="361739" h="524503">
                  <a:moveTo>
                    <a:pt x="358008" y="0"/>
                  </a:moveTo>
                  <a:lnTo>
                    <a:pt x="346187" y="1184"/>
                  </a:lnTo>
                  <a:lnTo>
                    <a:pt x="333378" y="5927"/>
                  </a:lnTo>
                  <a:lnTo>
                    <a:pt x="319699" y="13925"/>
                  </a:lnTo>
                  <a:lnTo>
                    <a:pt x="305269" y="24874"/>
                  </a:lnTo>
                  <a:lnTo>
                    <a:pt x="290205" y="38470"/>
                  </a:lnTo>
                  <a:lnTo>
                    <a:pt x="274628" y="54409"/>
                  </a:lnTo>
                  <a:lnTo>
                    <a:pt x="258655" y="72386"/>
                  </a:lnTo>
                  <a:lnTo>
                    <a:pt x="242406" y="92098"/>
                  </a:lnTo>
                  <a:lnTo>
                    <a:pt x="225999" y="113240"/>
                  </a:lnTo>
                  <a:lnTo>
                    <a:pt x="209553" y="135508"/>
                  </a:lnTo>
                  <a:lnTo>
                    <a:pt x="193186" y="158598"/>
                  </a:lnTo>
                  <a:lnTo>
                    <a:pt x="177017" y="182206"/>
                  </a:lnTo>
                  <a:lnTo>
                    <a:pt x="23613" y="438345"/>
                  </a:lnTo>
                  <a:lnTo>
                    <a:pt x="17535" y="450678"/>
                  </a:lnTo>
                  <a:lnTo>
                    <a:pt x="12448" y="461998"/>
                  </a:lnTo>
                  <a:lnTo>
                    <a:pt x="8303" y="472321"/>
                  </a:lnTo>
                  <a:lnTo>
                    <a:pt x="5051" y="481661"/>
                  </a:lnTo>
                  <a:lnTo>
                    <a:pt x="2643" y="490034"/>
                  </a:lnTo>
                  <a:lnTo>
                    <a:pt x="1031" y="497456"/>
                  </a:lnTo>
                  <a:lnTo>
                    <a:pt x="166" y="503940"/>
                  </a:lnTo>
                  <a:lnTo>
                    <a:pt x="0" y="509503"/>
                  </a:lnTo>
                  <a:lnTo>
                    <a:pt x="484" y="514159"/>
                  </a:lnTo>
                  <a:lnTo>
                    <a:pt x="1568" y="517924"/>
                  </a:lnTo>
                  <a:lnTo>
                    <a:pt x="3205" y="520813"/>
                  </a:lnTo>
                  <a:lnTo>
                    <a:pt x="5346" y="522842"/>
                  </a:lnTo>
                  <a:lnTo>
                    <a:pt x="8029" y="524067"/>
                  </a:lnTo>
                  <a:lnTo>
                    <a:pt x="11321" y="524503"/>
                  </a:lnTo>
                  <a:lnTo>
                    <a:pt x="15218" y="524098"/>
                  </a:lnTo>
                  <a:lnTo>
                    <a:pt x="19717" y="522802"/>
                  </a:lnTo>
                  <a:lnTo>
                    <a:pt x="24812" y="520564"/>
                  </a:lnTo>
                  <a:lnTo>
                    <a:pt x="30500" y="517333"/>
                  </a:lnTo>
                  <a:lnTo>
                    <a:pt x="36777" y="513058"/>
                  </a:lnTo>
                  <a:lnTo>
                    <a:pt x="43639" y="507689"/>
                  </a:lnTo>
                  <a:lnTo>
                    <a:pt x="51081" y="501175"/>
                  </a:lnTo>
                  <a:lnTo>
                    <a:pt x="59099" y="493465"/>
                  </a:lnTo>
                  <a:lnTo>
                    <a:pt x="67689" y="484507"/>
                  </a:lnTo>
                  <a:lnTo>
                    <a:pt x="76848" y="474252"/>
                  </a:lnTo>
                  <a:lnTo>
                    <a:pt x="256869" y="236067"/>
                  </a:lnTo>
                  <a:lnTo>
                    <a:pt x="272701" y="212232"/>
                  </a:lnTo>
                  <a:lnTo>
                    <a:pt x="287979" y="188407"/>
                  </a:lnTo>
                  <a:lnTo>
                    <a:pt x="302465" y="164816"/>
                  </a:lnTo>
                  <a:lnTo>
                    <a:pt x="315921" y="141684"/>
                  </a:lnTo>
                  <a:lnTo>
                    <a:pt x="328110" y="119234"/>
                  </a:lnTo>
                  <a:lnTo>
                    <a:pt x="338795" y="97690"/>
                  </a:lnTo>
                  <a:lnTo>
                    <a:pt x="347738" y="77276"/>
                  </a:lnTo>
                  <a:lnTo>
                    <a:pt x="354701" y="58217"/>
                  </a:lnTo>
                  <a:lnTo>
                    <a:pt x="359447" y="40735"/>
                  </a:lnTo>
                  <a:lnTo>
                    <a:pt x="361739" y="25056"/>
                  </a:lnTo>
                  <a:lnTo>
                    <a:pt x="361338" y="1140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ala superior"/>
            <p:cNvSpPr/>
            <p:nvPr/>
          </p:nvSpPr>
          <p:spPr>
            <a:xfrm>
              <a:off x="975137" y="901217"/>
              <a:ext cx="350798" cy="121393"/>
            </a:xfrm>
            <a:custGeom>
              <a:avLst/>
              <a:gdLst/>
              <a:ahLst/>
              <a:cxnLst/>
              <a:rect l="l" t="t" r="r" b="b"/>
              <a:pathLst>
                <a:path w="350798" h="121393">
                  <a:moveTo>
                    <a:pt x="350798" y="0"/>
                  </a:moveTo>
                  <a:lnTo>
                    <a:pt x="35266" y="8470"/>
                  </a:lnTo>
                  <a:lnTo>
                    <a:pt x="0" y="60754"/>
                  </a:lnTo>
                  <a:lnTo>
                    <a:pt x="274450" y="12139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inferior"/>
            <p:cNvSpPr/>
            <p:nvPr/>
          </p:nvSpPr>
          <p:spPr>
            <a:xfrm>
              <a:off x="1310427" y="947384"/>
              <a:ext cx="194299" cy="348013"/>
            </a:xfrm>
            <a:custGeom>
              <a:avLst/>
              <a:gdLst/>
              <a:ahLst/>
              <a:cxnLst/>
              <a:rect l="l" t="t" r="r" b="b"/>
              <a:pathLst>
                <a:path w="194299" h="348013">
                  <a:moveTo>
                    <a:pt x="83953" y="0"/>
                  </a:moveTo>
                  <a:lnTo>
                    <a:pt x="194299" y="295729"/>
                  </a:lnTo>
                  <a:lnTo>
                    <a:pt x="159033" y="348013"/>
                  </a:lnTo>
                  <a:lnTo>
                    <a:pt x="0" y="11626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cola superior"/>
            <p:cNvSpPr/>
            <p:nvPr/>
          </p:nvSpPr>
          <p:spPr>
            <a:xfrm>
              <a:off x="1027962" y="1145285"/>
              <a:ext cx="147178" cy="59602"/>
            </a:xfrm>
            <a:custGeom>
              <a:avLst/>
              <a:gdLst/>
              <a:ahLst/>
              <a:cxnLst/>
              <a:rect l="l" t="t" r="r" b="b"/>
              <a:pathLst>
                <a:path w="147178" h="59602">
                  <a:moveTo>
                    <a:pt x="147178" y="0"/>
                  </a:moveTo>
                  <a:lnTo>
                    <a:pt x="22442" y="12682"/>
                  </a:lnTo>
                  <a:lnTo>
                    <a:pt x="0" y="45954"/>
                  </a:lnTo>
                  <a:lnTo>
                    <a:pt x="112509" y="59602"/>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inferior"/>
            <p:cNvSpPr/>
            <p:nvPr/>
          </p:nvSpPr>
          <p:spPr>
            <a:xfrm>
              <a:off x="1182298" y="1178627"/>
              <a:ext cx="77243" cy="153676"/>
            </a:xfrm>
            <a:custGeom>
              <a:avLst/>
              <a:gdLst/>
              <a:ahLst/>
              <a:cxnLst/>
              <a:rect l="l" t="t" r="r" b="b"/>
              <a:pathLst>
                <a:path w="77243" h="153676">
                  <a:moveTo>
                    <a:pt x="42275" y="0"/>
                  </a:moveTo>
                  <a:lnTo>
                    <a:pt x="77243" y="120405"/>
                  </a:lnTo>
                  <a:lnTo>
                    <a:pt x="54801" y="153676"/>
                  </a:lnTo>
                  <a:lnTo>
                    <a:pt x="0" y="5447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palabra"/>
            <p:cNvSpPr txBox="1"/>
            <p:nvPr/>
          </p:nvSpPr>
          <p:spPr>
            <a:xfrm>
              <a:off x="832470" y="1282409"/>
              <a:ext cx="3355482" cy="521427"/>
            </a:xfrm>
            <a:prstGeom prst="rect">
              <a:avLst/>
            </a:prstGeom>
            <a:noFill/>
          </p:spPr>
          <p:txBody>
            <a:bodyPr wrap="none" lIns="0" rIns="0" tIns="0" bIns="0" anchor="t">
              <a:spAutoFit/>
            </a:bodyPr>
            <a:lstStyle/>
            <a:p>
              <a:r>
                <a:rPr sz="3421" b="1" i="1">
                  <a:solidFill>
                    <a:srgbClr val="CDE2FB"/>
                  </a:solidFill>
                  <a:latin typeface="Segoe UI"/>
                </a:rPr>
                <a:t>AIR TRANSPORT</a:t>
              </a:r>
            </a:p>
          </p:txBody>
        </p:sp>
      </p:grpSp>
      <p:sp>
        <p:nvSpPr>
          <p:cNvPr id="12" name="TextBox 11"/>
          <p:cNvSpPr txBox="1"/>
          <p:nvPr/>
        </p:nvSpPr>
        <p:spPr>
          <a:xfrm>
            <a:off x="548640" y="4846320"/>
            <a:ext cx="3840480" cy="1280160"/>
          </a:xfrm>
          <a:prstGeom prst="rect">
            <a:avLst/>
          </a:prstGeom>
          <a:noFill/>
        </p:spPr>
        <p:txBody>
          <a:bodyPr wrap="square" anchor="t" lIns="45720" rIns="45720" tIns="27432" bIns="27432">
            <a:spAutoFit/>
          </a:bodyPr>
          <a:lstStyle/>
          <a:p>
            <a:pPr algn="l">
              <a:spcAft>
                <a:spcPts val="600"/>
              </a:spcAft>
            </a:pPr>
            <a:r>
              <a:rPr sz="1400" b="0">
                <a:solidFill>
                  <a:srgbClr val="CDE2FB"/>
                </a:solidFill>
                <a:latin typeface="Segoe UI"/>
              </a:rPr>
              <a:t>Consultoría estratégica</a:t>
            </a:r>
          </a:p>
          <a:p>
            <a:pPr algn="l">
              <a:spcAft>
                <a:spcPts val="600"/>
              </a:spcAft>
            </a:pPr>
            <a:r>
              <a:rPr sz="1400" b="0">
                <a:solidFill>
                  <a:srgbClr val="CDE2FB"/>
                </a:solidFill>
                <a:latin typeface="Segoe UI"/>
              </a:rPr>
              <a:t>Análisis de datos para la dirección</a:t>
            </a:r>
          </a:p>
        </p:txBody>
      </p:sp>
      <p:sp>
        <p:nvSpPr>
          <p:cNvPr id="13" name="TextBox 12"/>
          <p:cNvSpPr txBox="1"/>
          <p:nvPr/>
        </p:nvSpPr>
        <p:spPr>
          <a:xfrm>
            <a:off x="5394960" y="1371600"/>
            <a:ext cx="6309360" cy="1737360"/>
          </a:xfrm>
          <a:prstGeom prst="rect">
            <a:avLst/>
          </a:prstGeom>
          <a:noFill/>
        </p:spPr>
        <p:txBody>
          <a:bodyPr wrap="square" anchor="t" lIns="45720" rIns="45720" tIns="27432" bIns="27432">
            <a:spAutoFit/>
          </a:bodyPr>
          <a:lstStyle/>
          <a:p>
            <a:pPr algn="l">
              <a:spcAft>
                <a:spcPts val="600"/>
              </a:spcAft>
            </a:pPr>
            <a:r>
              <a:rPr sz="3600" b="1">
                <a:solidFill>
                  <a:srgbClr val="E6EDF5"/>
                </a:solidFill>
                <a:latin typeface="Segoe UI"/>
              </a:rPr>
              <a:t>Tablero de gestión para la dirección de Air Transport</a:t>
            </a:r>
          </a:p>
        </p:txBody>
      </p:sp>
      <p:sp>
        <p:nvSpPr>
          <p:cNvPr id="14" name="Rectangle 13"/>
          <p:cNvSpPr/>
          <p:nvPr/>
        </p:nvSpPr>
        <p:spPr>
          <a:xfrm>
            <a:off x="5440680" y="3154680"/>
            <a:ext cx="1280160" cy="64008"/>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3383280"/>
            <a:ext cx="6309360" cy="731520"/>
          </a:xfrm>
          <a:prstGeom prst="rect">
            <a:avLst/>
          </a:prstGeom>
          <a:noFill/>
        </p:spPr>
        <p:txBody>
          <a:bodyPr wrap="square" anchor="t" lIns="45720" rIns="45720" tIns="27432" bIns="27432">
            <a:spAutoFit/>
          </a:bodyPr>
          <a:lstStyle/>
          <a:p>
            <a:pPr algn="l">
              <a:spcAft>
                <a:spcPts val="600"/>
              </a:spcAft>
            </a:pPr>
            <a:r>
              <a:rPr sz="1800" b="0">
                <a:solidFill>
                  <a:srgbClr val="9FB0C3"/>
                </a:solidFill>
                <a:latin typeface="Segoe UI"/>
              </a:rPr>
              <a:t>Ventas, proveedores y clientes · enero 2020 a noviembre 2022</a:t>
            </a:r>
          </a:p>
        </p:txBody>
      </p:sp>
      <p:sp>
        <p:nvSpPr>
          <p:cNvPr id="16" name="TextBox 15"/>
          <p:cNvSpPr txBox="1"/>
          <p:nvPr/>
        </p:nvSpPr>
        <p:spPr>
          <a:xfrm>
            <a:off x="5394960" y="4206240"/>
            <a:ext cx="6309360" cy="1828800"/>
          </a:xfrm>
          <a:prstGeom prst="rect">
            <a:avLst/>
          </a:prstGeom>
          <a:noFill/>
        </p:spPr>
        <p:txBody>
          <a:bodyPr wrap="square" anchor="t" lIns="45720" rIns="45720" tIns="27432" bIns="27432">
            <a:spAutoFit/>
          </a:bodyPr>
          <a:lstStyle/>
          <a:p>
            <a:pPr algn="l">
              <a:spcAft>
                <a:spcPts val="600"/>
              </a:spcAft>
            </a:pPr>
            <a:r>
              <a:rPr sz="1800" b="0">
                <a:solidFill>
                  <a:srgbClr val="E6EDF5"/>
                </a:solidFill>
                <a:latin typeface="Segoe UI"/>
              </a:rPr>
              <a:t>Tres preguntas que ordena el tablero:</a:t>
            </a:r>
          </a:p>
          <a:p>
            <a:pPr algn="l">
              <a:spcAft>
                <a:spcPts val="600"/>
              </a:spcAft>
            </a:pPr>
            <a:r>
              <a:rPr sz="1800" b="1">
                <a:solidFill>
                  <a:srgbClr val="E84818"/>
                </a:solidFill>
                <a:latin typeface="Segoe UI"/>
              </a:rPr>
              <a:t>1. </a:t>
            </a:r>
            <a:r>
              <a:rPr sz="1800" b="0">
                <a:solidFill>
                  <a:srgbClr val="E6EDF5"/>
                </a:solidFill>
                <a:latin typeface="Segoe UI"/>
              </a:rPr>
              <a:t>¿Cómo se vende?</a:t>
            </a:r>
          </a:p>
          <a:p>
            <a:pPr algn="l">
              <a:spcAft>
                <a:spcPts val="600"/>
              </a:spcAft>
            </a:pPr>
            <a:r>
              <a:rPr sz="1800" b="1">
                <a:solidFill>
                  <a:srgbClr val="E84818"/>
                </a:solidFill>
                <a:latin typeface="Segoe UI"/>
              </a:rPr>
              <a:t>2. </a:t>
            </a:r>
            <a:r>
              <a:rPr sz="1800" b="0">
                <a:solidFill>
                  <a:srgbClr val="E6EDF5"/>
                </a:solidFill>
                <a:latin typeface="Segoe UI"/>
              </a:rPr>
              <a:t>¿Cómo se cuida a los proveedores?</a:t>
            </a:r>
          </a:p>
          <a:p>
            <a:pPr algn="l">
              <a:spcAft>
                <a:spcPts val="600"/>
              </a:spcAft>
            </a:pPr>
            <a:r>
              <a:rPr sz="1800" b="1">
                <a:solidFill>
                  <a:srgbClr val="E84818"/>
                </a:solidFill>
                <a:latin typeface="Segoe UI"/>
              </a:rPr>
              <a:t>3. </a:t>
            </a:r>
            <a:r>
              <a:rPr sz="1800" b="0">
                <a:solidFill>
                  <a:srgbClr val="E6EDF5"/>
                </a:solidFill>
                <a:latin typeface="Segoe UI"/>
              </a:rPr>
              <a:t>¿A quién conviene fidelizar?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Los datos</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Tres fuentes: 1.000 pedidos, 999 proveedores y 999 clientes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proveedores.csv y clientes.csv.</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2</a:t>
            </a:r>
          </a:p>
        </p:txBody>
      </p:sp>
      <p:graphicFrame>
        <p:nvGraphicFramePr>
          <p:cNvPr id="15" name="Table 14"/>
          <p:cNvGraphicFramePr>
            <a:graphicFrameLocks noGrp="1"/>
          </p:cNvGraphicFramePr>
          <p:nvPr/>
        </p:nvGraphicFramePr>
        <p:xfrm>
          <a:off x="548640" y="1783080"/>
          <a:ext cx="11064240" cy="3291840"/>
        </p:xfrm>
        <a:graphic>
          <a:graphicData uri="http://schemas.openxmlformats.org/drawingml/2006/table">
            <a:tbl>
              <a:tblPr firstRow="1" bandRow="1">
                <a:tableStyleId>{5C22544A-7EE6-4342-B048-85BDC9FD1C3A}</a:tableStyleId>
              </a:tblPr>
              <a:tblGrid>
                <a:gridCol w="1554480"/>
                <a:gridCol w="822960"/>
                <a:gridCol w="4572000"/>
                <a:gridCol w="4114800"/>
              </a:tblGrid>
              <a:tr h="822960">
                <a:tc>
                  <a:txBody>
                    <a:bodyPr wrap="square"/>
                    <a:lstStyle/>
                    <a:p>
                      <a:r>
                        <a:rPr sz="1300" b="1">
                          <a:solidFill>
                            <a:srgbClr val="FFFFFF"/>
                          </a:solidFill>
                          <a:latin typeface="Segoe UI"/>
                        </a:rPr>
                        <a:t>Fuente</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85890"/>
                    </a:solidFill>
                  </a:tcPr>
                </a:tc>
                <a:tc>
                  <a:txBody>
                    <a:bodyPr wrap="square"/>
                    <a:lstStyle/>
                    <a:p>
                      <a:r>
                        <a:rPr sz="1300" b="1">
                          <a:solidFill>
                            <a:srgbClr val="FFFFFF"/>
                          </a:solidFill>
                          <a:latin typeface="Segoe UI"/>
                        </a:rPr>
                        <a:t>Filas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85890"/>
                    </a:solidFill>
                  </a:tcPr>
                </a:tc>
                <a:tc>
                  <a:txBody>
                    <a:bodyPr wrap="square"/>
                    <a:lstStyle/>
                    <a:p>
                      <a:r>
                        <a:rPr sz="1300" b="1">
                          <a:solidFill>
                            <a:srgbClr val="FFFFFF"/>
                          </a:solidFill>
                          <a:latin typeface="Segoe UI"/>
                        </a:rPr>
                        <a:t>Qué trae</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85890"/>
                    </a:solidFill>
                  </a:tcPr>
                </a:tc>
                <a:tc>
                  <a:txBody>
                    <a:bodyPr wrap="square"/>
                    <a:lstStyle/>
                    <a:p>
                      <a:r>
                        <a:rPr sz="1300" b="1">
                          <a:solidFill>
                            <a:srgbClr val="FFFFFF"/>
                          </a:solidFill>
                          <a:latin typeface="Segoe UI"/>
                        </a:rPr>
                        <a:t>Qué se limpió</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85890"/>
                    </a:solidFill>
                  </a:tcPr>
                </a:tc>
              </a:tr>
              <a:tr h="822960">
                <a:tc>
                  <a:txBody>
                    <a:bodyPr wrap="square"/>
                    <a:lstStyle/>
                    <a:p>
                      <a:r>
                        <a:rPr sz="1300" b="1">
                          <a:solidFill>
                            <a:srgbClr val="E6EDF5"/>
                          </a:solidFill>
                          <a:latin typeface="Segoe UI"/>
                        </a:rPr>
                        <a:t>Ventas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1.000</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Pedido, cliente, zona, país, producto, canal, prioridad, fechas, unidades, precio, costo e importes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Importes de texto con «€» a número; fechas a formato ISO</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r>
              <a:tr h="822960">
                <a:tc>
                  <a:txBody>
                    <a:bodyPr wrap="square"/>
                    <a:lstStyle/>
                    <a:p>
                      <a:r>
                        <a:rPr sz="1300" b="1">
                          <a:solidFill>
                            <a:srgbClr val="E6EDF5"/>
                          </a:solidFill>
                          <a:latin typeface="Segoe UI"/>
                        </a:rPr>
                        <a:t>Proveedores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0D1722"/>
                    </a:solidFill>
                  </a:tcPr>
                </a:tc>
                <a:tc>
                  <a:txBody>
                    <a:bodyPr wrap="square"/>
                    <a:lstStyle/>
                    <a:p>
                      <a:r>
                        <a:rPr sz="1300" b="0">
                          <a:solidFill>
                            <a:srgbClr val="E6EDF5"/>
                          </a:solidFill>
                          <a:latin typeface="Segoe UI"/>
                        </a:rPr>
                        <a:t>999</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0D1722"/>
                    </a:solidFill>
                  </a:tcPr>
                </a:tc>
                <a:tc>
                  <a:txBody>
                    <a:bodyPr wrap="square"/>
                    <a:lstStyle/>
                    <a:p>
                      <a:r>
                        <a:rPr sz="1300" b="0">
                          <a:solidFill>
                            <a:srgbClr val="E6EDF5"/>
                          </a:solidFill>
                          <a:latin typeface="Segoe UI"/>
                        </a:rPr>
                        <a:t>ID, proveedor, saldo pendiente y fecha de la última compra</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0D1722"/>
                    </a:solidFill>
                  </a:tcPr>
                </a:tc>
                <a:tc>
                  <a:txBody>
                    <a:bodyPr wrap="square"/>
                    <a:lstStyle/>
                    <a:p>
                      <a:r>
                        <a:rPr sz="1300" b="0">
                          <a:solidFill>
                            <a:srgbClr val="E6EDF5"/>
                          </a:solidFill>
                          <a:latin typeface="Segoe UI"/>
                        </a:rPr>
                        <a:t>Saldos de texto con «$» a número; dos columnas sin encabezado descartadas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0D1722"/>
                    </a:solidFill>
                  </a:tcPr>
                </a:tc>
              </a:tr>
              <a:tr h="822960">
                <a:tc>
                  <a:txBody>
                    <a:bodyPr wrap="square"/>
                    <a:lstStyle/>
                    <a:p>
                      <a:r>
                        <a:rPr sz="1300" b="1">
                          <a:solidFill>
                            <a:srgbClr val="E6EDF5"/>
                          </a:solidFill>
                          <a:latin typeface="Segoe UI"/>
                        </a:rPr>
                        <a:t>Clientes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999</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ID, grupo (A a E), país, estado, edad y fecha de alta</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c>
                  <a:txBody>
                    <a:bodyPr wrap="square"/>
                    <a:lstStyle/>
                    <a:p>
                      <a:r>
                        <a:rPr sz="1300" b="0">
                          <a:solidFill>
                            <a:srgbClr val="E6EDF5"/>
                          </a:solidFill>
                          <a:latin typeface="Segoe UI"/>
                        </a:rPr>
                        <a:t>País inferido de la dirección; sin nombres, correos ni teléfonos</a:t>
                      </a:r>
                    </a:p>
                  </a:txBody>
                  <a:tcPr marL="91440" marR="91440" anchor="ctr">
                    <a:lnL w="12700">
                      <a:solidFill>
                        <a:srgbClr val="0D1722"/>
                      </a:solidFill>
                    </a:lnL>
                    <a:lnR w="12700">
                      <a:solidFill>
                        <a:srgbClr val="0D1722"/>
                      </a:solidFill>
                    </a:lnR>
                    <a:lnT w="12700">
                      <a:solidFill>
                        <a:srgbClr val="0D1722"/>
                      </a:solidFill>
                    </a:lnT>
                    <a:lnB w="12700">
                      <a:solidFill>
                        <a:srgbClr val="0D1722"/>
                      </a:solidFill>
                    </a:lnB>
                    <a:solidFill>
                      <a:srgbClr val="15222F"/>
                    </a:solidFill>
                  </a:tcPr>
                </a:tc>
              </a:tr>
            </a:tbl>
          </a:graphicData>
        </a:graphic>
      </p:graphicFrame>
      <p:sp>
        <p:nvSpPr>
          <p:cNvPr id="16" name="Rectangle 15"/>
          <p:cNvSpPr/>
          <p:nvPr/>
        </p:nvSpPr>
        <p:spPr>
          <a:xfrm>
            <a:off x="548640" y="5349240"/>
            <a:ext cx="11064240" cy="7315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440680"/>
            <a:ext cx="10698480" cy="548640"/>
          </a:xfrm>
          <a:prstGeom prst="rect">
            <a:avLst/>
          </a:prstGeom>
          <a:noFill/>
        </p:spPr>
        <p:txBody>
          <a:bodyPr wrap="square" anchor="t" lIns="45720" rIns="45720" tIns="27432" bIns="27432">
            <a:spAutoFit/>
          </a:bodyPr>
          <a:lstStyle/>
          <a:p>
            <a:pPr algn="l">
              <a:spcAft>
                <a:spcPts val="600"/>
              </a:spcAft>
            </a:pPr>
            <a:r>
              <a:rPr sz="1300" b="1">
                <a:solidFill>
                  <a:srgbClr val="E6EDF5"/>
                </a:solidFill>
                <a:latin typeface="Segoe UI"/>
              </a:rPr>
              <a:t>Período de ventas: </a:t>
            </a:r>
            <a:r>
              <a:rPr sz="1300" b="0">
                <a:solidFill>
                  <a:srgbClr val="E6EDF5"/>
                </a:solidFill>
                <a:latin typeface="Segoe UI"/>
              </a:rPr>
              <a:t>1 de enero de 2020 al 7 de noviembre de 2022 (noviembre está incompleto). </a:t>
            </a:r>
            <a:r>
              <a:rPr sz="1300" b="1">
                <a:solidFill>
                  <a:srgbClr val="E6EDF5"/>
                </a:solidFill>
                <a:latin typeface="Segoe UI"/>
              </a:rPr>
              <a:t>Variables clave: </a:t>
            </a:r>
            <a:r>
              <a:rPr sz="1300" b="0">
                <a:solidFill>
                  <a:srgbClr val="E6EDF5"/>
                </a:solidFill>
                <a:latin typeface="Segoe UI"/>
              </a:rPr>
              <a:t>producto, zona, país, canal, prioridad, plazo de envío, saldo y grupo de cliente.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Cómo se lee el tablero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El tablero tiene cuatro páginas y se explora con filtros y clics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Informe de Power BI · AirTransport.pbix</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3</a:t>
            </a:r>
          </a:p>
        </p:txBody>
      </p:sp>
      <p:sp>
        <p:nvSpPr>
          <p:cNvPr id="15" name="Rectangle 14"/>
          <p:cNvSpPr/>
          <p:nvPr/>
        </p:nvSpPr>
        <p:spPr>
          <a:xfrm>
            <a:off x="548640" y="1828800"/>
            <a:ext cx="2651760" cy="205740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Operativo</a:t>
            </a:r>
          </a:p>
        </p:txBody>
      </p:sp>
      <p:sp>
        <p:nvSpPr>
          <p:cNvPr id="18" name="TextBox 17"/>
          <p:cNvSpPr txBox="1"/>
          <p:nvPr/>
        </p:nvSpPr>
        <p:spPr>
          <a:xfrm>
            <a:off x="640080"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¿Cómo vamos hoy?</a:t>
            </a:r>
          </a:p>
        </p:txBody>
      </p:sp>
      <p:sp>
        <p:nvSpPr>
          <p:cNvPr id="19" name="TextBox 18"/>
          <p:cNvSpPr txBox="1"/>
          <p:nvPr/>
        </p:nvSpPr>
        <p:spPr>
          <a:xfrm>
            <a:off x="640080"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9FB0C3"/>
                </a:solidFill>
                <a:latin typeface="Segoe UI"/>
              </a:rPr>
              <a:t>Ventas, costos, productos y seguimiento de pedidos</a:t>
            </a:r>
          </a:p>
        </p:txBody>
      </p:sp>
      <p:sp>
        <p:nvSpPr>
          <p:cNvPr id="20" name="Rectangle 19"/>
          <p:cNvSpPr/>
          <p:nvPr/>
        </p:nvSpPr>
        <p:spPr>
          <a:xfrm>
            <a:off x="3337560" y="1828800"/>
            <a:ext cx="2651760" cy="205740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37560"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Táctico</a:t>
            </a:r>
          </a:p>
        </p:txBody>
      </p:sp>
      <p:sp>
        <p:nvSpPr>
          <p:cNvPr id="23" name="TextBox 22"/>
          <p:cNvSpPr txBox="1"/>
          <p:nvPr/>
        </p:nvSpPr>
        <p:spPr>
          <a:xfrm>
            <a:off x="3429000"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¿Cómo cuidamos la relación?</a:t>
            </a:r>
          </a:p>
        </p:txBody>
      </p:sp>
      <p:sp>
        <p:nvSpPr>
          <p:cNvPr id="24" name="TextBox 23"/>
          <p:cNvSpPr txBox="1"/>
          <p:nvPr/>
        </p:nvSpPr>
        <p:spPr>
          <a:xfrm>
            <a:off x="3429000"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9FB0C3"/>
                </a:solidFill>
                <a:latin typeface="Segoe UI"/>
              </a:rPr>
              <a:t>Proveedores, saldos pendientes y clientes frecuentes</a:t>
            </a:r>
          </a:p>
        </p:txBody>
      </p:sp>
      <p:sp>
        <p:nvSpPr>
          <p:cNvPr id="25" name="Rectangle 24"/>
          <p:cNvSpPr/>
          <p:nvPr/>
        </p:nvSpPr>
        <p:spPr>
          <a:xfrm>
            <a:off x="6126479" y="1828800"/>
            <a:ext cx="2651760" cy="205740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79"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19"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Estratégico</a:t>
            </a:r>
          </a:p>
        </p:txBody>
      </p:sp>
      <p:sp>
        <p:nvSpPr>
          <p:cNvPr id="28" name="TextBox 27"/>
          <p:cNvSpPr txBox="1"/>
          <p:nvPr/>
        </p:nvSpPr>
        <p:spPr>
          <a:xfrm>
            <a:off x="6217919"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¿Hacia dónde crecer?</a:t>
            </a:r>
          </a:p>
        </p:txBody>
      </p:sp>
      <p:sp>
        <p:nvSpPr>
          <p:cNvPr id="29" name="TextBox 28"/>
          <p:cNvSpPr txBox="1"/>
          <p:nvPr/>
        </p:nvSpPr>
        <p:spPr>
          <a:xfrm>
            <a:off x="6217919"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9FB0C3"/>
                </a:solidFill>
                <a:latin typeface="Segoe UI"/>
              </a:rPr>
              <a:t>Rentabilidad, geografía, tendencia y clientes</a:t>
            </a:r>
          </a:p>
        </p:txBody>
      </p:sp>
      <p:sp>
        <p:nvSpPr>
          <p:cNvPr id="30" name="Rectangle 29"/>
          <p:cNvSpPr/>
          <p:nvPr/>
        </p:nvSpPr>
        <p:spPr>
          <a:xfrm>
            <a:off x="8915399" y="1828800"/>
            <a:ext cx="2651760" cy="205740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15399" y="1828800"/>
            <a:ext cx="2651760" cy="548640"/>
          </a:xfrm>
          <a:prstGeom prst="rect">
            <a:avLst/>
          </a:prstGeom>
          <a:solidFill>
            <a:srgbClr val="4A5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39"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Datos y alcance</a:t>
            </a:r>
          </a:p>
        </p:txBody>
      </p:sp>
      <p:sp>
        <p:nvSpPr>
          <p:cNvPr id="33" name="TextBox 32"/>
          <p:cNvSpPr txBox="1"/>
          <p:nvPr/>
        </p:nvSpPr>
        <p:spPr>
          <a:xfrm>
            <a:off x="9006839"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¿Qué tan firme es el análisis?</a:t>
            </a:r>
          </a:p>
        </p:txBody>
      </p:sp>
      <p:sp>
        <p:nvSpPr>
          <p:cNvPr id="34" name="TextBox 33"/>
          <p:cNvSpPr txBox="1"/>
          <p:nvPr/>
        </p:nvSpPr>
        <p:spPr>
          <a:xfrm>
            <a:off x="9006839"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9FB0C3"/>
                </a:solidFill>
                <a:latin typeface="Segoe UI"/>
              </a:rPr>
              <a:t>Fuentes y límites de los datos</a:t>
            </a:r>
          </a:p>
        </p:txBody>
      </p:sp>
      <p:sp>
        <p:nvSpPr>
          <p:cNvPr id="35" name="TextBox 34"/>
          <p:cNvSpPr txBox="1"/>
          <p:nvPr/>
        </p:nvSpPr>
        <p:spPr>
          <a:xfrm>
            <a:off x="548640" y="4297680"/>
            <a:ext cx="11064240" cy="1920240"/>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  Navegador de páginas arriba, siempre visible.</a:t>
            </a:r>
          </a:p>
          <a:p>
            <a:pPr algn="l">
              <a:spcAft>
                <a:spcPts val="600"/>
              </a:spcAft>
            </a:pPr>
            <a:r>
              <a:rPr sz="1600" b="0">
                <a:solidFill>
                  <a:srgbClr val="E6EDF5"/>
                </a:solidFill>
                <a:latin typeface="Segoe UI"/>
              </a:rPr>
              <a:t>•  Filtros de año, zona, canal, prioridad y producto, sincronizados entre las páginas operativa y estratégica.</a:t>
            </a:r>
          </a:p>
          <a:p>
            <a:pPr algn="l">
              <a:spcAft>
                <a:spcPts val="600"/>
              </a:spcAft>
            </a:pPr>
            <a:r>
              <a:rPr sz="1600" b="0">
                <a:solidFill>
                  <a:srgbClr val="E6EDF5"/>
                </a:solidFill>
                <a:latin typeface="Segoe UI"/>
              </a:rPr>
              <a:t>•  Un clic en un gráfico filtra todo lo demás; el botón «Limpiar filtros» vuelve al inicio.</a:t>
            </a:r>
          </a:p>
          <a:p>
            <a:pPr algn="l">
              <a:spcAft>
                <a:spcPts val="600"/>
              </a:spcAft>
            </a:pPr>
            <a:r>
              <a:rPr sz="1600" b="0">
                <a:solidFill>
                  <a:srgbClr val="E6EDF5"/>
                </a:solidFill>
                <a:latin typeface="Segoe UI"/>
              </a:rPr>
              <a:t>•  Al pasar el mouse por un producto o una zona aparece ventas, margen y pedidos.</a:t>
            </a:r>
          </a:p>
          <a:p>
            <a:pPr algn="l">
              <a:spcAft>
                <a:spcPts val="600"/>
              </a:spcAft>
            </a:pPr>
            <a:r>
              <a:rPr sz="1600" b="0">
                <a:solidFill>
                  <a:srgbClr val="E6EDF5"/>
                </a:solidFill>
                <a:latin typeface="Segoe UI"/>
              </a:rPr>
              <a:t>•  Con clic derecho sobre un producto se abre su detalle (obtención de detalles).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Operativo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Vendimos €1.289,1 M con 29,6 % de margen, pero los productos que más venden dejan poco</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 1.000 pedidos. Importes en millones de euros; entre paréntesis, el margen bruto.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4</a:t>
            </a:r>
          </a:p>
        </p:txBody>
      </p:sp>
      <p:graphicFrame>
        <p:nvGraphicFramePr>
          <p:cNvPr id="15" name="Chart 14"/>
          <p:cNvGraphicFramePr>
            <a:graphicFrameLocks noGrp="1"/>
          </p:cNvGraphicFramePr>
          <p:nvPr/>
        </p:nvGraphicFramePr>
        <p:xfrm>
          <a:off x="548640" y="1691640"/>
          <a:ext cx="6766560" cy="4572000"/>
        </p:xfrm>
        <a:graphic>
          <a:graphicData uri="http://schemas.openxmlformats.org/drawingml/2006/chart">
            <c:chart xmlns:c="http://schemas.openxmlformats.org/drawingml/2006/chart" r:id="rId3"/>
          </a:graphicData>
        </a:graphic>
      </p:graphicFrame>
      <p:sp>
        <p:nvSpPr>
          <p:cNvPr id="16" name="Rectangle 15"/>
          <p:cNvSpPr/>
          <p:nvPr/>
        </p:nvSpPr>
        <p:spPr>
          <a:xfrm>
            <a:off x="7589520" y="1691640"/>
            <a:ext cx="402336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169164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737360"/>
            <a:ext cx="3749040" cy="548640"/>
          </a:xfrm>
          <a:prstGeom prst="rect">
            <a:avLst/>
          </a:prstGeom>
          <a:noFill/>
        </p:spPr>
        <p:txBody>
          <a:bodyPr wrap="square" anchor="t" lIns="45720" rIns="45720" tIns="27432" bIns="27432">
            <a:spAutoFit/>
          </a:bodyPr>
          <a:lstStyle/>
          <a:p>
            <a:pPr algn="l">
              <a:spcAft>
                <a:spcPts val="600"/>
              </a:spcAft>
            </a:pPr>
            <a:r>
              <a:rPr sz="2400" b="1">
                <a:solidFill>
                  <a:srgbClr val="4C9BE0"/>
                </a:solidFill>
                <a:latin typeface="Segoe UI"/>
              </a:rPr>
              <a:t>€1.289,1 M</a:t>
            </a:r>
          </a:p>
        </p:txBody>
      </p:sp>
      <p:sp>
        <p:nvSpPr>
          <p:cNvPr id="19" name="TextBox 18"/>
          <p:cNvSpPr txBox="1"/>
          <p:nvPr/>
        </p:nvSpPr>
        <p:spPr>
          <a:xfrm>
            <a:off x="7772400" y="2258568"/>
            <a:ext cx="374904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ventas totales</a:t>
            </a:r>
          </a:p>
        </p:txBody>
      </p:sp>
      <p:sp>
        <p:nvSpPr>
          <p:cNvPr id="20" name="Rectangle 19"/>
          <p:cNvSpPr/>
          <p:nvPr/>
        </p:nvSpPr>
        <p:spPr>
          <a:xfrm>
            <a:off x="7589520" y="274320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274320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278892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29,6 %</a:t>
            </a:r>
          </a:p>
        </p:txBody>
      </p:sp>
      <p:sp>
        <p:nvSpPr>
          <p:cNvPr id="23" name="TextBox 22"/>
          <p:cNvSpPr txBox="1"/>
          <p:nvPr/>
        </p:nvSpPr>
        <p:spPr>
          <a:xfrm>
            <a:off x="7772400" y="331012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margen bruto</a:t>
            </a:r>
          </a:p>
        </p:txBody>
      </p:sp>
      <p:sp>
        <p:nvSpPr>
          <p:cNvPr id="24" name="Rectangle 23"/>
          <p:cNvSpPr/>
          <p:nvPr/>
        </p:nvSpPr>
        <p:spPr>
          <a:xfrm>
            <a:off x="9692640" y="274320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92640" y="274320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19" y="2788920"/>
            <a:ext cx="1645920" cy="548640"/>
          </a:xfrm>
          <a:prstGeom prst="rect">
            <a:avLst/>
          </a:prstGeom>
          <a:noFill/>
        </p:spPr>
        <p:txBody>
          <a:bodyPr wrap="square" anchor="t" lIns="45720" rIns="45720" tIns="27432" bIns="27432">
            <a:spAutoFit/>
          </a:bodyPr>
          <a:lstStyle/>
          <a:p>
            <a:pPr algn="l">
              <a:spcAft>
                <a:spcPts val="600"/>
              </a:spcAft>
            </a:pPr>
            <a:r>
              <a:rPr sz="2400" b="1">
                <a:solidFill>
                  <a:srgbClr val="4C9BE0"/>
                </a:solidFill>
                <a:latin typeface="Segoe UI"/>
              </a:rPr>
              <a:t>€1,29 M</a:t>
            </a:r>
          </a:p>
        </p:txBody>
      </p:sp>
      <p:sp>
        <p:nvSpPr>
          <p:cNvPr id="27" name="TextBox 26"/>
          <p:cNvSpPr txBox="1"/>
          <p:nvPr/>
        </p:nvSpPr>
        <p:spPr>
          <a:xfrm>
            <a:off x="9875519" y="331012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ticket medio</a:t>
            </a:r>
          </a:p>
        </p:txBody>
      </p:sp>
      <p:sp>
        <p:nvSpPr>
          <p:cNvPr id="28" name="Rectangle 27"/>
          <p:cNvSpPr/>
          <p:nvPr/>
        </p:nvSpPr>
        <p:spPr>
          <a:xfrm>
            <a:off x="7589520" y="3931920"/>
            <a:ext cx="4023360" cy="228600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9520" y="3931920"/>
            <a:ext cx="73152" cy="228600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400507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31" name="TextBox 30"/>
          <p:cNvSpPr txBox="1"/>
          <p:nvPr/>
        </p:nvSpPr>
        <p:spPr>
          <a:xfrm>
            <a:off x="7772400" y="4315968"/>
            <a:ext cx="3703320" cy="1828800"/>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Doméstico, Material de oficina y Cárnicos venden más y rinden menos. Cárnicos es el peor con 13,6 %: revisar precio y costo ahí.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Operativo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Un pedido crítico no sale antes que uno de baja prioridad</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 plazo = días entre la fecha del pedido y la de envío.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5</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Plazo medio de envío, en días, según la prioridad del pedido</a:t>
            </a:r>
          </a:p>
        </p:txBody>
      </p:sp>
      <p:sp>
        <p:nvSpPr>
          <p:cNvPr id="17" name="Rectangle 16"/>
          <p:cNvSpPr/>
          <p:nvPr/>
        </p:nvSpPr>
        <p:spPr>
          <a:xfrm>
            <a:off x="7589520" y="1691640"/>
            <a:ext cx="402336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3749040" cy="548640"/>
          </a:xfrm>
          <a:prstGeom prst="rect">
            <a:avLst/>
          </a:prstGeom>
          <a:noFill/>
        </p:spPr>
        <p:txBody>
          <a:bodyPr wrap="square" anchor="t" lIns="45720" rIns="45720" tIns="27432" bIns="27432">
            <a:spAutoFit/>
          </a:bodyPr>
          <a:lstStyle/>
          <a:p>
            <a:pPr algn="l">
              <a:spcAft>
                <a:spcPts val="600"/>
              </a:spcAft>
            </a:pPr>
            <a:r>
              <a:rPr sz="2400" b="1">
                <a:solidFill>
                  <a:srgbClr val="4C9BE0"/>
                </a:solidFill>
                <a:latin typeface="Segoe UI"/>
              </a:rPr>
              <a:t>24,0 días</a:t>
            </a:r>
          </a:p>
        </p:txBody>
      </p:sp>
      <p:sp>
        <p:nvSpPr>
          <p:cNvPr id="20" name="TextBox 19"/>
          <p:cNvSpPr txBox="1"/>
          <p:nvPr/>
        </p:nvSpPr>
        <p:spPr>
          <a:xfrm>
            <a:off x="7772400" y="2258568"/>
            <a:ext cx="374904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plazo medio de envío (todos los pedidos)</a:t>
            </a:r>
          </a:p>
        </p:txBody>
      </p:sp>
      <p:sp>
        <p:nvSpPr>
          <p:cNvPr id="21" name="TextBox 20"/>
          <p:cNvSpPr txBox="1"/>
          <p:nvPr/>
        </p:nvSpPr>
        <p:spPr>
          <a:xfrm>
            <a:off x="7589520" y="2880360"/>
            <a:ext cx="4023360" cy="1188720"/>
          </a:xfrm>
          <a:prstGeom prst="rect">
            <a:avLst/>
          </a:prstGeom>
          <a:noFill/>
        </p:spPr>
        <p:txBody>
          <a:bodyPr wrap="square" anchor="t" lIns="45720" rIns="45720" tIns="27432" bIns="27432">
            <a:spAutoFit/>
          </a:bodyPr>
          <a:lstStyle/>
          <a:p>
            <a:pPr algn="l">
              <a:spcAft>
                <a:spcPts val="600"/>
              </a:spcAft>
            </a:pPr>
            <a:r>
              <a:rPr sz="1500" b="0">
                <a:solidFill>
                  <a:srgbClr val="E6EDF5"/>
                </a:solidFill>
                <a:latin typeface="Segoe UI"/>
              </a:rPr>
              <a:t>•  Crítica: 24,9 días contra 23,9 de Baja.</a:t>
            </a:r>
          </a:p>
          <a:p>
            <a:pPr algn="l">
              <a:spcAft>
                <a:spcPts val="600"/>
              </a:spcAft>
            </a:pPr>
            <a:r>
              <a:rPr sz="1500" b="0">
                <a:solidFill>
                  <a:srgbClr val="E6EDF5"/>
                </a:solidFill>
                <a:latin typeface="Segoe UI"/>
              </a:rPr>
              <a:t>•  La prioridad hoy no cambia el plazo.</a:t>
            </a:r>
          </a:p>
        </p:txBody>
      </p:sp>
      <p:sp>
        <p:nvSpPr>
          <p:cNvPr id="22" name="Rectangle 21"/>
          <p:cNvSpPr/>
          <p:nvPr/>
        </p:nvSpPr>
        <p:spPr>
          <a:xfrm>
            <a:off x="7589520" y="4114800"/>
            <a:ext cx="4023360" cy="210312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5" name="TextBox 24"/>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Definir un plazo objetivo menor para los pedidos críticos y dar seguimiento a los más lentos con la tabla de pedidos del tablero.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Táctico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90,2 % de los proveedores no compra hace más de un año y concentra 90,5 % del saldo</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proveedores.csv · antigüedad medida contra la última compra del archivo (4/5/2022). Saldos en dólares.</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6</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Cantidad de proveedores según su última compra; entre paréntesis, el saldo pendiente</a:t>
            </a:r>
          </a:p>
        </p:txBody>
      </p:sp>
      <p:sp>
        <p:nvSpPr>
          <p:cNvPr id="17" name="Rectangle 16"/>
          <p:cNvSpPr/>
          <p:nvPr/>
        </p:nvSpPr>
        <p:spPr>
          <a:xfrm>
            <a:off x="758952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4C9BE0"/>
                </a:solidFill>
                <a:latin typeface="Segoe UI"/>
              </a:rPr>
              <a:t>$4.265.977</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saldo pendiente total</a:t>
            </a:r>
          </a:p>
        </p:txBody>
      </p:sp>
      <p:sp>
        <p:nvSpPr>
          <p:cNvPr id="21" name="Rectangle 20"/>
          <p:cNvSpPr/>
          <p:nvPr/>
        </p:nvSpPr>
        <p:spPr>
          <a:xfrm>
            <a:off x="969264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E84818"/>
                </a:solidFill>
                <a:latin typeface="Segoe UI"/>
              </a:rPr>
              <a:t>901 de 999</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proveedores sin compras en 12 meses</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  Más de 36 meses: 716 proveedores y $3.003.639.</a:t>
            </a:r>
          </a:p>
          <a:p>
            <a:pPr algn="l">
              <a:spcAft>
                <a:spcPts val="600"/>
              </a:spcAft>
            </a:pPr>
            <a:r>
              <a:rPr sz="1400" b="0">
                <a:solidFill>
                  <a:srgbClr val="E6EDF5"/>
                </a:solidFill>
                <a:latin typeface="Segoe UI"/>
              </a:rPr>
              <a:t>•  Los 10 mayores saldos son solo 2,2 % del total.</a:t>
            </a:r>
          </a:p>
        </p:txBody>
      </p:sp>
      <p:sp>
        <p:nvSpPr>
          <p:cNvPr id="26" name="Rectangle 25"/>
          <p:cNvSpPr/>
          <p:nvPr/>
        </p:nvSpPr>
        <p:spPr>
          <a:xfrm>
            <a:off x="7589520" y="4114800"/>
            <a:ext cx="4023360" cy="210312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Conciliar primero los de más de 36 meses y definir, proveedor por proveedor, si se paga, se renegocia o se da de baja.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Táctico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Solo 48 de 951 clientes (5,0 %) compraron más de una vez</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 clientes identificados por el ID de las ventas.</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7</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Cantidad de clientes según cuántos pedidos hicieron</a:t>
            </a:r>
          </a:p>
        </p:txBody>
      </p:sp>
      <p:sp>
        <p:nvSpPr>
          <p:cNvPr id="17" name="Rectangle 16"/>
          <p:cNvSpPr/>
          <p:nvPr/>
        </p:nvSpPr>
        <p:spPr>
          <a:xfrm>
            <a:off x="758952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48</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clientes con más de 1 pedido</a:t>
            </a:r>
          </a:p>
        </p:txBody>
      </p:sp>
      <p:sp>
        <p:nvSpPr>
          <p:cNvPr id="21" name="Rectangle 20"/>
          <p:cNvSpPr/>
          <p:nvPr/>
        </p:nvSpPr>
        <p:spPr>
          <a:xfrm>
            <a:off x="969264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5,0 %</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clientes recurrentes</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  903 clientes compraron una sola vez.</a:t>
            </a:r>
          </a:p>
          <a:p>
            <a:pPr algn="l">
              <a:spcAft>
                <a:spcPts val="600"/>
              </a:spcAft>
            </a:pPr>
            <a:r>
              <a:rPr sz="1400" b="0">
                <a:solidFill>
                  <a:srgbClr val="E6EDF5"/>
                </a:solidFill>
                <a:latin typeface="Segoe UI"/>
              </a:rPr>
              <a:t>•  El máximo es de 3 pedidos por cliente.</a:t>
            </a:r>
          </a:p>
        </p:txBody>
      </p:sp>
      <p:sp>
        <p:nvSpPr>
          <p:cNvPr id="26" name="Rectangle 25"/>
          <p:cNvSpPr/>
          <p:nvPr/>
        </p:nvSpPr>
        <p:spPr>
          <a:xfrm>
            <a:off x="7589520" y="4114800"/>
            <a:ext cx="4023360" cy="210312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Lanzar una acción de recompra y un programa de fidelización, y medir cuántos clientes vuelven a comprar.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Ropa rinde 67,2 % pero vende €41,2 M; los tres que más venden rinden menos de 30 %</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 margen bruto = (ventas − costo) / ventas. La línea punteada es el margen total.</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8</a:t>
            </a:r>
          </a:p>
        </p:txBody>
      </p:sp>
      <p:graphicFrame>
        <p:nvGraphicFramePr>
          <p:cNvPr id="15" name="Chart 14"/>
          <p:cNvGraphicFramePr>
            <a:graphicFrameLocks noGrp="1"/>
          </p:cNvGraphicFramePr>
          <p:nvPr/>
        </p:nvGraphicFramePr>
        <p:xfrm>
          <a:off x="548640" y="1691640"/>
          <a:ext cx="7223760" cy="4572000"/>
        </p:xfrm>
        <a:graphic>
          <a:graphicData uri="http://schemas.openxmlformats.org/drawingml/2006/chart">
            <c:chart xmlns:c="http://schemas.openxmlformats.org/drawingml/2006/chart" r:id="rId3"/>
          </a:graphicData>
        </a:graphic>
      </p:graphicFrame>
      <p:sp>
        <p:nvSpPr>
          <p:cNvPr id="16" name="Rectangle 15"/>
          <p:cNvSpPr/>
          <p:nvPr/>
        </p:nvSpPr>
        <p:spPr>
          <a:xfrm>
            <a:off x="8046720" y="1691640"/>
            <a:ext cx="356616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737360"/>
            <a:ext cx="329184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13,6 %</a:t>
            </a:r>
          </a:p>
        </p:txBody>
      </p:sp>
      <p:sp>
        <p:nvSpPr>
          <p:cNvPr id="19" name="TextBox 18"/>
          <p:cNvSpPr txBox="1"/>
          <p:nvPr/>
        </p:nvSpPr>
        <p:spPr>
          <a:xfrm>
            <a:off x="8229600" y="2258568"/>
            <a:ext cx="329184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margen de Cárnicos, el peor producto</a:t>
            </a:r>
          </a:p>
        </p:txBody>
      </p:sp>
      <p:sp>
        <p:nvSpPr>
          <p:cNvPr id="20" name="TextBox 19"/>
          <p:cNvSpPr txBox="1"/>
          <p:nvPr/>
        </p:nvSpPr>
        <p:spPr>
          <a:xfrm>
            <a:off x="8046720" y="2834640"/>
            <a:ext cx="3566160" cy="137160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  Ropa: 67,2 % de margen, €41,2 M de ventas.</a:t>
            </a:r>
          </a:p>
          <a:p>
            <a:pPr algn="l">
              <a:spcAft>
                <a:spcPts val="600"/>
              </a:spcAft>
            </a:pPr>
            <a:r>
              <a:rPr sz="1400" b="0">
                <a:solidFill>
                  <a:srgbClr val="E6EDF5"/>
                </a:solidFill>
                <a:latin typeface="Segoe UI"/>
              </a:rPr>
              <a:t>•  Doméstico: 24,8 % con €268,8 M.</a:t>
            </a:r>
          </a:p>
        </p:txBody>
      </p:sp>
      <p:sp>
        <p:nvSpPr>
          <p:cNvPr id="21" name="Rectangle 20"/>
          <p:cNvSpPr/>
          <p:nvPr/>
        </p:nvSpPr>
        <p:spPr>
          <a:xfrm>
            <a:off x="8046720" y="4160520"/>
            <a:ext cx="3566160" cy="205740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4160520"/>
            <a:ext cx="73152" cy="205740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4233672"/>
            <a:ext cx="32461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4" name="TextBox 23"/>
          <p:cNvSpPr txBox="1"/>
          <p:nvPr/>
        </p:nvSpPr>
        <p:spPr>
          <a:xfrm>
            <a:off x="8229600" y="4544568"/>
            <a:ext cx="3246120" cy="1600200"/>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Política por producto: cuidar los de margen alto y corregir los de mucho volumen con margen bajo.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África concentra 38,7 % de las ventas y de enero a octubre de 2022 se vendió 14,3 % menos con los mismos pedidos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ventas.csv · comparación de enero a octubre para no mezclar un año completo con uno parcial.</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9</a:t>
            </a:r>
          </a:p>
        </p:txBody>
      </p:sp>
      <p:graphicFrame>
        <p:nvGraphicFramePr>
          <p:cNvPr id="15" name="Chart 14"/>
          <p:cNvGraphicFramePr>
            <a:graphicFrameLocks noGrp="1"/>
          </p:cNvGraphicFramePr>
          <p:nvPr/>
        </p:nvGraphicFramePr>
        <p:xfrm>
          <a:off x="548640" y="1691640"/>
          <a:ext cx="49377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493776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Participación de cada zona en las ventas (%)</a:t>
            </a:r>
          </a:p>
        </p:txBody>
      </p:sp>
      <p:graphicFrame>
        <p:nvGraphicFramePr>
          <p:cNvPr id="17" name="Chart 16"/>
          <p:cNvGraphicFramePr>
            <a:graphicFrameLocks noGrp="1"/>
          </p:cNvGraphicFramePr>
          <p:nvPr/>
        </p:nvGraphicFramePr>
        <p:xfrm>
          <a:off x="5577840" y="1691640"/>
          <a:ext cx="2834640" cy="4160520"/>
        </p:xfrm>
        <a:graphic>
          <a:graphicData uri="http://schemas.openxmlformats.org/drawingml/2006/chart">
            <c:chart xmlns:c="http://schemas.openxmlformats.org/drawingml/2006/chart" r:id="rId4"/>
          </a:graphicData>
        </a:graphic>
      </p:graphicFrame>
      <p:sp>
        <p:nvSpPr>
          <p:cNvPr id="18" name="TextBox 17"/>
          <p:cNvSpPr txBox="1"/>
          <p:nvPr/>
        </p:nvSpPr>
        <p:spPr>
          <a:xfrm>
            <a:off x="5577840" y="5897880"/>
            <a:ext cx="283464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Ventas de enero a octubre (€ M)</a:t>
            </a:r>
          </a:p>
        </p:txBody>
      </p:sp>
      <p:sp>
        <p:nvSpPr>
          <p:cNvPr id="19" name="Rectangle 18"/>
          <p:cNvSpPr/>
          <p:nvPr/>
        </p:nvSpPr>
        <p:spPr>
          <a:xfrm>
            <a:off x="8595360" y="1691640"/>
            <a:ext cx="301752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1737360"/>
            <a:ext cx="274320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−14,3 %</a:t>
            </a:r>
          </a:p>
        </p:txBody>
      </p:sp>
      <p:sp>
        <p:nvSpPr>
          <p:cNvPr id="22" name="TextBox 21"/>
          <p:cNvSpPr txBox="1"/>
          <p:nvPr/>
        </p:nvSpPr>
        <p:spPr>
          <a:xfrm>
            <a:off x="8778240" y="2258568"/>
            <a:ext cx="274320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ventas ene-oct 2022 contra 2021</a:t>
            </a:r>
          </a:p>
        </p:txBody>
      </p:sp>
      <p:sp>
        <p:nvSpPr>
          <p:cNvPr id="23" name="TextBox 22"/>
          <p:cNvSpPr txBox="1"/>
          <p:nvPr/>
        </p:nvSpPr>
        <p:spPr>
          <a:xfrm>
            <a:off x="8595360" y="2834640"/>
            <a:ext cx="3017520" cy="1371600"/>
          </a:xfrm>
          <a:prstGeom prst="rect">
            <a:avLst/>
          </a:prstGeom>
          <a:noFill/>
        </p:spPr>
        <p:txBody>
          <a:bodyPr wrap="square" anchor="t" lIns="45720" rIns="45720" tIns="27432" bIns="27432">
            <a:spAutoFit/>
          </a:bodyPr>
          <a:lstStyle/>
          <a:p>
            <a:pPr algn="l">
              <a:spcAft>
                <a:spcPts val="400"/>
              </a:spcAft>
            </a:pPr>
            <a:r>
              <a:rPr sz="1300" b="0">
                <a:solidFill>
                  <a:srgbClr val="E6EDF5"/>
                </a:solidFill>
                <a:latin typeface="Segoe UI"/>
              </a:rPr>
              <a:t>•  301 pedidos en 2022 y 301 en 2021.</a:t>
            </a:r>
          </a:p>
          <a:p>
            <a:pPr algn="l">
              <a:spcAft>
                <a:spcPts val="400"/>
              </a:spcAft>
            </a:pPr>
            <a:r>
              <a:rPr sz="1300" b="0">
                <a:solidFill>
                  <a:srgbClr val="E6EDF5"/>
                </a:solidFill>
                <a:latin typeface="Segoe UI"/>
              </a:rPr>
              <a:t>•  184 países; los 10 primeros suman 13,3 %.</a:t>
            </a:r>
          </a:p>
        </p:txBody>
      </p:sp>
      <p:sp>
        <p:nvSpPr>
          <p:cNvPr id="24" name="Rectangle 23"/>
          <p:cNvSpPr/>
          <p:nvPr/>
        </p:nvSpPr>
        <p:spPr>
          <a:xfrm>
            <a:off x="8595360" y="4206240"/>
            <a:ext cx="3017520" cy="201168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95360" y="4206240"/>
            <a:ext cx="73152" cy="201168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4279392"/>
            <a:ext cx="2697479"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7" name="TextBox 26"/>
          <p:cNvSpPr txBox="1"/>
          <p:nvPr/>
        </p:nvSpPr>
        <p:spPr>
          <a:xfrm>
            <a:off x="8778240" y="4590288"/>
            <a:ext cx="2697479" cy="1554480"/>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Reforzar o desarrollar zonas y revisar el ticket medio.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Los cinco grupos de clientes son iguales en tamaño y en edad: falta definir qué los distingue</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Fuente: clientes.csv · 999 clientes. País inferido del formato de la dirección.</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10</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9FB0C3"/>
                </a:solidFill>
                <a:latin typeface="Segoe UI"/>
              </a:rPr>
              <a:t>Cantidad de clientes por grupo</a:t>
            </a:r>
          </a:p>
        </p:txBody>
      </p:sp>
      <p:sp>
        <p:nvSpPr>
          <p:cNvPr id="17" name="Rectangle 16"/>
          <p:cNvSpPr/>
          <p:nvPr/>
        </p:nvSpPr>
        <p:spPr>
          <a:xfrm>
            <a:off x="758952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4C9BE0"/>
                </a:solidFill>
                <a:latin typeface="Segoe UI"/>
              </a:rPr>
              <a:t>40,9 años</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edad promedio, igual en todos los grupos</a:t>
            </a:r>
          </a:p>
        </p:txBody>
      </p:sp>
      <p:sp>
        <p:nvSpPr>
          <p:cNvPr id="21" name="Rectangle 20"/>
          <p:cNvSpPr/>
          <p:nvPr/>
        </p:nvSpPr>
        <p:spPr>
          <a:xfrm>
            <a:off x="9692640" y="1691640"/>
            <a:ext cx="1920240" cy="96012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4C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4C9BE0"/>
                </a:solidFill>
                <a:latin typeface="Segoe UI"/>
              </a:rPr>
              <a:t>542 / 457</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9FB0C3"/>
                </a:solidFill>
                <a:latin typeface="Segoe UI"/>
              </a:rPr>
              <a:t>EE. UU. / Reino Unido</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  Entre 190 y 208 clientes por grupo.</a:t>
            </a:r>
          </a:p>
          <a:p>
            <a:pPr algn="l">
              <a:spcAft>
                <a:spcPts val="600"/>
              </a:spcAft>
            </a:pPr>
            <a:r>
              <a:rPr sz="1400" b="0">
                <a:solidFill>
                  <a:srgbClr val="E6EDF5"/>
                </a:solidFill>
                <a:latin typeface="Segoe UI"/>
              </a:rPr>
              <a:t>•  No hay diferencias de tamaño ni de edad.</a:t>
            </a:r>
          </a:p>
        </p:txBody>
      </p:sp>
      <p:sp>
        <p:nvSpPr>
          <p:cNvPr id="26" name="Rectangle 25"/>
          <p:cNvSpPr/>
          <p:nvPr/>
        </p:nvSpPr>
        <p:spPr>
          <a:xfrm>
            <a:off x="7589520" y="4114800"/>
            <a:ext cx="4023360" cy="2103120"/>
          </a:xfrm>
          <a:prstGeom prst="rect">
            <a:avLst/>
          </a:prstGeom>
          <a:solidFill>
            <a:srgbClr val="2C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E6EDF5"/>
                </a:solidFill>
                <a:latin typeface="Segoe UI"/>
              </a:rPr>
              <a:t>Definir con qué criterio se arman los grupos y medir cuánto vale cada uno, para saber a quién fidelizar primero.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Decisiones por nivel</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Qué podría decidir Air Transport en cada nivel</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Cada decisión se apoya en una cifra del tablero.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11</a:t>
            </a:r>
          </a:p>
        </p:txBody>
      </p:sp>
      <p:sp>
        <p:nvSpPr>
          <p:cNvPr id="15" name="Rectangle 14"/>
          <p:cNvSpPr/>
          <p:nvPr/>
        </p:nvSpPr>
        <p:spPr>
          <a:xfrm>
            <a:off x="548640" y="1783080"/>
            <a:ext cx="3611880" cy="443484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Operativas</a:t>
            </a:r>
          </a:p>
        </p:txBody>
      </p:sp>
      <p:sp>
        <p:nvSpPr>
          <p:cNvPr id="18" name="TextBox 17"/>
          <p:cNvSpPr txBox="1"/>
          <p:nvPr/>
        </p:nvSpPr>
        <p:spPr>
          <a:xfrm>
            <a:off x="685800"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Esta semana</a:t>
            </a:r>
          </a:p>
        </p:txBody>
      </p:sp>
      <p:sp>
        <p:nvSpPr>
          <p:cNvPr id="19" name="TextBox 18"/>
          <p:cNvSpPr txBox="1"/>
          <p:nvPr/>
        </p:nvSpPr>
        <p:spPr>
          <a:xfrm>
            <a:off x="685800" y="265176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13,6 %</a:t>
            </a:r>
          </a:p>
        </p:txBody>
      </p:sp>
      <p:sp>
        <p:nvSpPr>
          <p:cNvPr id="20" name="TextBox 19"/>
          <p:cNvSpPr txBox="1"/>
          <p:nvPr/>
        </p:nvSpPr>
        <p:spPr>
          <a:xfrm>
            <a:off x="685800"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Revisar precio y costo de Cárnicos: el margen más bajo, con €178,5 M vendidos.</a:t>
            </a:r>
          </a:p>
        </p:txBody>
      </p:sp>
      <p:sp>
        <p:nvSpPr>
          <p:cNvPr id="21" name="TextBox 20"/>
          <p:cNvSpPr txBox="1"/>
          <p:nvPr/>
        </p:nvSpPr>
        <p:spPr>
          <a:xfrm>
            <a:off x="685800"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24,9 días</a:t>
            </a:r>
          </a:p>
        </p:txBody>
      </p:sp>
      <p:sp>
        <p:nvSpPr>
          <p:cNvPr id="22" name="TextBox 21"/>
          <p:cNvSpPr txBox="1"/>
          <p:nvPr/>
        </p:nvSpPr>
        <p:spPr>
          <a:xfrm>
            <a:off x="685800"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Plazo objetivo para los pedidos críticos: hoy tardan más que los de baja prioridad (23,9).</a:t>
            </a:r>
          </a:p>
        </p:txBody>
      </p:sp>
      <p:sp>
        <p:nvSpPr>
          <p:cNvPr id="23" name="Rectangle 22"/>
          <p:cNvSpPr/>
          <p:nvPr/>
        </p:nvSpPr>
        <p:spPr>
          <a:xfrm>
            <a:off x="4297679" y="1783080"/>
            <a:ext cx="3611880" cy="443484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79"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Tácticas</a:t>
            </a:r>
          </a:p>
        </p:txBody>
      </p:sp>
      <p:sp>
        <p:nvSpPr>
          <p:cNvPr id="26" name="TextBox 25"/>
          <p:cNvSpPr txBox="1"/>
          <p:nvPr/>
        </p:nvSpPr>
        <p:spPr>
          <a:xfrm>
            <a:off x="4434840"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Este trimestre</a:t>
            </a:r>
          </a:p>
        </p:txBody>
      </p:sp>
      <p:sp>
        <p:nvSpPr>
          <p:cNvPr id="27" name="TextBox 26"/>
          <p:cNvSpPr txBox="1"/>
          <p:nvPr/>
        </p:nvSpPr>
        <p:spPr>
          <a:xfrm>
            <a:off x="4434840" y="265176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$3.003.639</a:t>
            </a:r>
          </a:p>
        </p:txBody>
      </p:sp>
      <p:sp>
        <p:nvSpPr>
          <p:cNvPr id="28" name="TextBox 27"/>
          <p:cNvSpPr txBox="1"/>
          <p:nvPr/>
        </p:nvSpPr>
        <p:spPr>
          <a:xfrm>
            <a:off x="4434840"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Conciliar los 716 proveedores sin compras hace más de 36 meses: pagar, renegociar o dar de baja.</a:t>
            </a:r>
          </a:p>
        </p:txBody>
      </p:sp>
      <p:sp>
        <p:nvSpPr>
          <p:cNvPr id="29" name="TextBox 28"/>
          <p:cNvSpPr txBox="1"/>
          <p:nvPr/>
        </p:nvSpPr>
        <p:spPr>
          <a:xfrm>
            <a:off x="4434840"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5,0 %</a:t>
            </a:r>
          </a:p>
        </p:txBody>
      </p:sp>
      <p:sp>
        <p:nvSpPr>
          <p:cNvPr id="30" name="TextBox 29"/>
          <p:cNvSpPr txBox="1"/>
          <p:nvPr/>
        </p:nvSpPr>
        <p:spPr>
          <a:xfrm>
            <a:off x="4434840"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Programa de recompra: solo 48 de 951 clientes compraron más de una vez.</a:t>
            </a:r>
          </a:p>
        </p:txBody>
      </p:sp>
      <p:sp>
        <p:nvSpPr>
          <p:cNvPr id="31" name="Rectangle 30"/>
          <p:cNvSpPr/>
          <p:nvPr/>
        </p:nvSpPr>
        <p:spPr>
          <a:xfrm>
            <a:off x="8046719" y="1783080"/>
            <a:ext cx="3611880" cy="443484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19"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79"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Estratégicas</a:t>
            </a:r>
          </a:p>
        </p:txBody>
      </p:sp>
      <p:sp>
        <p:nvSpPr>
          <p:cNvPr id="34" name="TextBox 33"/>
          <p:cNvSpPr txBox="1"/>
          <p:nvPr/>
        </p:nvSpPr>
        <p:spPr>
          <a:xfrm>
            <a:off x="8183879"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Este año</a:t>
            </a:r>
          </a:p>
        </p:txBody>
      </p:sp>
      <p:sp>
        <p:nvSpPr>
          <p:cNvPr id="35" name="TextBox 34"/>
          <p:cNvSpPr txBox="1"/>
          <p:nvPr/>
        </p:nvSpPr>
        <p:spPr>
          <a:xfrm>
            <a:off x="8183879" y="2651760"/>
            <a:ext cx="3383280" cy="457200"/>
          </a:xfrm>
          <a:prstGeom prst="rect">
            <a:avLst/>
          </a:prstGeom>
          <a:noFill/>
        </p:spPr>
        <p:txBody>
          <a:bodyPr wrap="square" anchor="t" lIns="45720" rIns="45720" tIns="27432" bIns="27432">
            <a:spAutoFit/>
          </a:bodyPr>
          <a:lstStyle/>
          <a:p>
            <a:pPr algn="l">
              <a:spcAft>
                <a:spcPts val="600"/>
              </a:spcAft>
            </a:pPr>
            <a:r>
              <a:rPr sz="2200" b="1">
                <a:solidFill>
                  <a:srgbClr val="E84818"/>
                </a:solidFill>
                <a:latin typeface="Segoe UI"/>
              </a:rPr>
              <a:t>67,2 % y 13,6 %</a:t>
            </a:r>
          </a:p>
        </p:txBody>
      </p:sp>
      <p:sp>
        <p:nvSpPr>
          <p:cNvPr id="36" name="TextBox 35"/>
          <p:cNvSpPr txBox="1"/>
          <p:nvPr/>
        </p:nvSpPr>
        <p:spPr>
          <a:xfrm>
            <a:off x="8183879"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Política por producto: cuidar Ropa y corregir Doméstico, Material de oficina y Cárnicos.</a:t>
            </a:r>
          </a:p>
        </p:txBody>
      </p:sp>
      <p:sp>
        <p:nvSpPr>
          <p:cNvPr id="37" name="TextBox 36"/>
          <p:cNvSpPr txBox="1"/>
          <p:nvPr/>
        </p:nvSpPr>
        <p:spPr>
          <a:xfrm>
            <a:off x="8183879"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−14,3 %</a:t>
            </a:r>
          </a:p>
        </p:txBody>
      </p:sp>
      <p:sp>
        <p:nvSpPr>
          <p:cNvPr id="38" name="TextBox 37"/>
          <p:cNvSpPr txBox="1"/>
          <p:nvPr/>
        </p:nvSpPr>
        <p:spPr>
          <a:xfrm>
            <a:off x="8183879"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E6EDF5"/>
                </a:solidFill>
                <a:latin typeface="Segoe UI"/>
              </a:rPr>
              <a:t>Revisar ticket medio y zonas: ventas de ene-oct 2022 con los mismos 301 pedidos; África 38,7 %, Norteamérica 2,2 %.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4C9BE0"/>
                </a:solidFill>
                <a:latin typeface="Segoe UI"/>
              </a:rPr>
              <a:t>Air </a:t>
            </a:r>
            <a:r>
              <a:rPr sz="1200" b="1">
                <a:solidFill>
                  <a:srgbClr val="E84818"/>
                </a:solidFill>
                <a:latin typeface="Segoe UI"/>
              </a:rPr>
              <a:t>Transport</a:t>
            </a:r>
            <a:r>
              <a:rPr sz="1200" b="1">
                <a:solidFill>
                  <a:srgbClr val="9FB0C3"/>
                </a:solidFill>
                <a:latin typeface="Segoe UI"/>
              </a:rPr>
              <a:t>   ·   Datos y alcance</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E6EDF5"/>
                </a:solidFill>
                <a:latin typeface="Segoe UI"/>
              </a:rPr>
              <a:t>Qué no podemos afirmar todavía y qué pedirle a la empresa</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CDE2FB"/>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9FB0C3"/>
                </a:solidFill>
                <a:latin typeface="Segoe UI"/>
              </a:rPr>
              <a:t>Los límites también figuran en la página «Datos y alcance» del tablero.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9FB0C3"/>
                </a:solidFill>
                <a:latin typeface="Segoe UI"/>
              </a:rPr>
              <a:t>12</a:t>
            </a:r>
          </a:p>
        </p:txBody>
      </p:sp>
      <p:sp>
        <p:nvSpPr>
          <p:cNvPr id="15" name="TextBox 14"/>
          <p:cNvSpPr txBox="1"/>
          <p:nvPr/>
        </p:nvSpPr>
        <p:spPr>
          <a:xfrm>
            <a:off x="548640" y="1737360"/>
            <a:ext cx="6949440" cy="4480560"/>
          </a:xfrm>
          <a:prstGeom prst="rect">
            <a:avLst/>
          </a:prstGeom>
          <a:noFill/>
        </p:spPr>
        <p:txBody>
          <a:bodyPr wrap="square" anchor="t" lIns="45720" rIns="45720" tIns="27432" bIns="27432">
            <a:spAutoFit/>
          </a:bodyPr>
          <a:lstStyle/>
          <a:p>
            <a:pPr algn="l">
              <a:spcAft>
                <a:spcPts val="1100"/>
              </a:spcAft>
            </a:pPr>
            <a:r>
              <a:rPr sz="1600" b="0">
                <a:solidFill>
                  <a:srgbClr val="E6EDF5"/>
                </a:solidFill>
                <a:latin typeface="Segoe UI"/>
              </a:rPr>
              <a:t>•  Ventas y clientes no se cruzan: ninguno de los 951 IDs de las ventas está en el archivo de clientes (0 coinciden).</a:t>
            </a:r>
          </a:p>
          <a:p>
            <a:pPr algn="l">
              <a:spcAft>
                <a:spcPts val="1100"/>
              </a:spcAft>
            </a:pPr>
            <a:r>
              <a:rPr sz="1600" b="0">
                <a:solidFill>
                  <a:srgbClr val="E6EDF5"/>
                </a:solidFill>
                <a:latin typeface="Segoe UI"/>
              </a:rPr>
              <a:t>•  Las ventas no traen identificador de proveedor: no se puede asociar compras con proveedores.</a:t>
            </a:r>
          </a:p>
          <a:p>
            <a:pPr algn="l">
              <a:spcAft>
                <a:spcPts val="1100"/>
              </a:spcAft>
            </a:pPr>
            <a:r>
              <a:rPr sz="1600" b="0">
                <a:solidFill>
                  <a:srgbClr val="E6EDF5"/>
                </a:solidFill>
                <a:latin typeface="Segoe UI"/>
              </a:rPr>
              <a:t>•  Las ventas están en euros y los saldos de proveedores en dólares, sin conversión.</a:t>
            </a:r>
          </a:p>
          <a:p>
            <a:pPr algn="l">
              <a:spcAft>
                <a:spcPts val="1100"/>
              </a:spcAft>
            </a:pPr>
            <a:r>
              <a:rPr sz="1600" b="0">
                <a:solidFill>
                  <a:srgbClr val="E6EDF5"/>
                </a:solidFill>
                <a:latin typeface="Segoe UI"/>
              </a:rPr>
              <a:t>•  Noviembre de 2022 está incompleto (último pedido el 7/11/2022).</a:t>
            </a:r>
          </a:p>
          <a:p>
            <a:pPr algn="l">
              <a:spcAft>
                <a:spcPts val="1100"/>
              </a:spcAft>
            </a:pPr>
            <a:r>
              <a:rPr sz="1600" b="0">
                <a:solidFill>
                  <a:srgbClr val="E6EDF5"/>
                </a:solidFill>
                <a:latin typeface="Segoe UI"/>
              </a:rPr>
              <a:t>•  La antigüedad de los proveedores se mide contra la última compra del archivo (4/5/2022), no contra hoy.</a:t>
            </a:r>
          </a:p>
          <a:p>
            <a:pPr algn="l">
              <a:spcAft>
                <a:spcPts val="1100"/>
              </a:spcAft>
            </a:pPr>
            <a:r>
              <a:rPr sz="1600" b="0">
                <a:solidFill>
                  <a:srgbClr val="E6EDF5"/>
                </a:solidFill>
                <a:latin typeface="Segoe UI"/>
              </a:rPr>
              <a:t>•  El país de cada cliente se infiere del formato de la dirección.</a:t>
            </a:r>
          </a:p>
        </p:txBody>
      </p:sp>
      <p:sp>
        <p:nvSpPr>
          <p:cNvPr id="16" name="Rectangle 15"/>
          <p:cNvSpPr/>
          <p:nvPr/>
        </p:nvSpPr>
        <p:spPr>
          <a:xfrm>
            <a:off x="7772400" y="1737360"/>
            <a:ext cx="3840480" cy="4480560"/>
          </a:xfrm>
          <a:prstGeom prst="rect">
            <a:avLst/>
          </a:prstGeom>
          <a:solidFill>
            <a:srgbClr val="15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0" y="1737360"/>
            <a:ext cx="3840480" cy="73152"/>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1920240"/>
            <a:ext cx="3474720" cy="365760"/>
          </a:xfrm>
          <a:prstGeom prst="rect">
            <a:avLst/>
          </a:prstGeom>
          <a:noFill/>
        </p:spPr>
        <p:txBody>
          <a:bodyPr wrap="square" anchor="t" lIns="45720" rIns="45720" tIns="27432" bIns="27432">
            <a:spAutoFit/>
          </a:bodyPr>
          <a:lstStyle/>
          <a:p>
            <a:pPr algn="l">
              <a:spcAft>
                <a:spcPts val="600"/>
              </a:spcAft>
            </a:pPr>
            <a:r>
              <a:rPr sz="1800" b="1">
                <a:solidFill>
                  <a:srgbClr val="E84818"/>
                </a:solidFill>
                <a:latin typeface="Segoe UI"/>
              </a:rPr>
              <a:t>Próximos pasos</a:t>
            </a:r>
          </a:p>
        </p:txBody>
      </p:sp>
      <p:sp>
        <p:nvSpPr>
          <p:cNvPr id="19" name="TextBox 18"/>
          <p:cNvSpPr txBox="1"/>
          <p:nvPr/>
        </p:nvSpPr>
        <p:spPr>
          <a:xfrm>
            <a:off x="7955279" y="2423160"/>
            <a:ext cx="3474720" cy="3657600"/>
          </a:xfrm>
          <a:prstGeom prst="rect">
            <a:avLst/>
          </a:prstGeom>
          <a:noFill/>
        </p:spPr>
        <p:txBody>
          <a:bodyPr wrap="square" anchor="t" lIns="45720" rIns="45720" tIns="27432" bIns="27432">
            <a:spAutoFit/>
          </a:bodyPr>
          <a:lstStyle/>
          <a:p>
            <a:pPr algn="l">
              <a:spcAft>
                <a:spcPts val="1200"/>
              </a:spcAft>
            </a:pPr>
            <a:r>
              <a:rPr sz="1600" b="0">
                <a:solidFill>
                  <a:srgbClr val="E6EDF5"/>
                </a:solidFill>
                <a:latin typeface="Segoe UI"/>
              </a:rPr>
              <a:t>•  Pedir un ID común entre ventas y clientes para medir ventas por grupo de cliente.</a:t>
            </a:r>
          </a:p>
          <a:p>
            <a:pPr algn="l">
              <a:spcAft>
                <a:spcPts val="1200"/>
              </a:spcAft>
            </a:pPr>
            <a:r>
              <a:rPr sz="1600" b="0">
                <a:solidFill>
                  <a:srgbClr val="E6EDF5"/>
                </a:solidFill>
                <a:latin typeface="Segoe UI"/>
              </a:rPr>
              <a:t>•  Pedir la moneda de los saldos para poder compararlos con las ventas.</a:t>
            </a:r>
          </a:p>
          <a:p>
            <a:pPr algn="l">
              <a:spcAft>
                <a:spcPts val="1200"/>
              </a:spcAft>
            </a:pPr>
            <a:r>
              <a:rPr sz="1600" b="0">
                <a:solidFill>
                  <a:srgbClr val="E6EDF5"/>
                </a:solidFill>
                <a:latin typeface="Segoe UI"/>
              </a:rPr>
              <a:t>•  Completar noviembre de 2022 y volver a medir la tendencia.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Tablero de gestión de Air Transport</dc:title>
  <dc:subject>Ventas, proveedores y clientes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